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
  </p:notesMasterIdLst>
  <p:sldIdLst>
    <p:sldId id="292" r:id="rId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0" roundtripDataSignature="AMtx7micmHcKLXWxbZMf86u2N6K2uTjs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1CECFA3-D3AC-42D7-B80B-AB1CFEA52FA9}">
  <a:tblStyle styleId="{21CECFA3-D3AC-42D7-B80B-AB1CFEA52FA9}"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248"/>
    <p:restoredTop sz="96006"/>
  </p:normalViewPr>
  <p:slideViewPr>
    <p:cSldViewPr snapToGrid="0">
      <p:cViewPr>
        <p:scale>
          <a:sx n="150" d="100"/>
          <a:sy n="150" d="100"/>
        </p:scale>
        <p:origin x="-1356" y="27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34" Type="http://schemas.openxmlformats.org/officeDocument/2006/relationships/tableStyles" Target="tableStyles.xml"/><Relationship Id="rId33"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32" Type="http://schemas.openxmlformats.org/officeDocument/2006/relationships/viewProps" Target="viewProps.xml"/><Relationship Id="rId31" Type="http://schemas.openxmlformats.org/officeDocument/2006/relationships/presProps" Target="presProps.xml"/><Relationship Id="rId30" Type="http://customschemas.google.com/relationships/presentationmetadata" Target="metadata"/></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pic>
        <p:nvPicPr>
          <p:cNvPr id="3" name="Google Shape;3;n" descr="tud_logo"/>
          <p:cNvPicPr preferRelativeResize="0"/>
          <p:nvPr/>
        </p:nvPicPr>
        <p:blipFill rotWithShape="1">
          <a:blip r:embed="rId2">
            <a:alphaModFix/>
          </a:blip>
          <a:srcRect/>
          <a:stretch/>
        </p:blipFill>
        <p:spPr>
          <a:xfrm>
            <a:off x="5732463" y="360363"/>
            <a:ext cx="935037" cy="420687"/>
          </a:xfrm>
          <a:prstGeom prst="rect">
            <a:avLst/>
          </a:prstGeom>
          <a:noFill/>
          <a:ln>
            <a:noFill/>
          </a:ln>
        </p:spPr>
      </p:pic>
      <p:sp>
        <p:nvSpPr>
          <p:cNvPr id="4" name="Google Shape;4;n"/>
          <p:cNvSpPr txBox="1">
            <a:spLocks noGrp="1"/>
          </p:cNvSpPr>
          <p:nvPr>
            <p:ph type="dt" idx="10"/>
          </p:nvPr>
        </p:nvSpPr>
        <p:spPr>
          <a:xfrm>
            <a:off x="188913" y="8685213"/>
            <a:ext cx="1619250" cy="457200"/>
          </a:xfrm>
          <a:prstGeom prst="rect">
            <a:avLst/>
          </a:prstGeom>
          <a:noFill/>
          <a:ln>
            <a:noFill/>
          </a:ln>
        </p:spPr>
        <p:txBody>
          <a:bodyPr spcFirstLastPara="1" wrap="square" lIns="91425" tIns="45700" rIns="91425" bIns="45700" anchor="ctr" anchorCtr="0">
            <a:noAutofit/>
          </a:bodyPr>
          <a:lstStyle>
            <a:lvl1pPr marR="0" lvl="0" algn="l" rtl="0">
              <a:lnSpc>
                <a:spcPct val="130000"/>
              </a:lnSpc>
              <a:spcBef>
                <a:spcPts val="0"/>
              </a:spcBef>
              <a:spcAft>
                <a:spcPts val="0"/>
              </a:spcAft>
              <a:buClr>
                <a:srgbClr val="000000"/>
              </a:buClr>
              <a:buSzPts val="1400"/>
              <a:buFont typeface="Arial"/>
              <a:buNone/>
              <a:defRPr sz="1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2"/>
          </p:nvPr>
        </p:nvSpPr>
        <p:spPr>
          <a:xfrm>
            <a:off x="688975" y="923925"/>
            <a:ext cx="5461000" cy="30718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190500" y="4284663"/>
            <a:ext cx="6477000" cy="42830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2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12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12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12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12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808163" y="8685213"/>
            <a:ext cx="4105275" cy="457200"/>
          </a:xfrm>
          <a:prstGeom prst="rect">
            <a:avLst/>
          </a:prstGeom>
          <a:noFill/>
          <a:ln>
            <a:noFill/>
          </a:ln>
        </p:spPr>
        <p:txBody>
          <a:bodyPr spcFirstLastPara="1" wrap="square" lIns="91425" tIns="45700" rIns="91425" bIns="45700" anchor="ctr" anchorCtr="0">
            <a:noAutofit/>
          </a:bodyPr>
          <a:lstStyle>
            <a:lvl1pPr marR="0" lvl="0" algn="l" rtl="0">
              <a:lnSpc>
                <a:spcPct val="130000"/>
              </a:lnSpc>
              <a:spcBef>
                <a:spcPts val="0"/>
              </a:spcBef>
              <a:spcAft>
                <a:spcPts val="0"/>
              </a:spcAft>
              <a:buClr>
                <a:srgbClr val="000000"/>
              </a:buClr>
              <a:buSzPts val="1400"/>
              <a:buFont typeface="Arial"/>
              <a:buNone/>
              <a:defRPr sz="1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913438" y="8685213"/>
            <a:ext cx="942975" cy="457200"/>
          </a:xfrm>
          <a:prstGeom prst="rect">
            <a:avLst/>
          </a:prstGeom>
          <a:noFill/>
          <a:ln>
            <a:noFill/>
          </a:ln>
        </p:spPr>
        <p:txBody>
          <a:bodyPr spcFirstLastPara="1" wrap="square" lIns="91425" tIns="45700" rIns="91425" bIns="45700" anchor="ctr" anchorCtr="0">
            <a:noAutofit/>
          </a:bodyPr>
          <a:lstStyle/>
          <a:p>
            <a:pPr marL="0" marR="0" lvl="0" indent="0" algn="r" rtl="0">
              <a:lnSpc>
                <a:spcPct val="13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  </a:t>
            </a:r>
            <a:fld id="{00000000-1234-1234-1234-123412341234}" type="slidenum">
              <a:rPr lang="en-US" sz="1000" b="0" i="0" u="none" strike="noStrike" cap="none">
                <a:solidFill>
                  <a:schemeClr val="dk1"/>
                </a:solidFill>
                <a:latin typeface="Arial"/>
                <a:ea typeface="Arial"/>
                <a:cs typeface="Arial"/>
                <a:sym typeface="Arial"/>
              </a:rPr>
              <a:t>‹Nr.›</a:t>
            </a:fld>
            <a:endParaRPr sz="1000" b="0" i="0" u="none" strike="noStrike" cap="none">
              <a:solidFill>
                <a:schemeClr val="dk1"/>
              </a:solidFill>
              <a:latin typeface="Arial"/>
              <a:ea typeface="Arial"/>
              <a:cs typeface="Arial"/>
              <a:sym typeface="Arial"/>
            </a:endParaRPr>
          </a:p>
        </p:txBody>
      </p:sp>
      <p:sp>
        <p:nvSpPr>
          <p:cNvPr id="9" name="Google Shape;9;n"/>
          <p:cNvSpPr/>
          <p:nvPr/>
        </p:nvSpPr>
        <p:spPr>
          <a:xfrm>
            <a:off x="190500" y="387350"/>
            <a:ext cx="5403850" cy="393700"/>
          </a:xfrm>
          <a:prstGeom prst="rect">
            <a:avLst/>
          </a:prstGeom>
          <a:noFill/>
          <a:ln>
            <a:noFill/>
          </a:ln>
        </p:spPr>
        <p:txBody>
          <a:bodyPr spcFirstLastPara="1" wrap="square" lIns="108000" tIns="0" rIns="0" bIns="0" anchor="ctr" anchorCtr="0">
            <a:noAutofit/>
          </a:bodyPr>
          <a:lstStyle/>
          <a:p>
            <a:pPr marL="0" marR="0" lvl="0" indent="0" algn="l" rtl="0">
              <a:lnSpc>
                <a:spcPct val="130000"/>
              </a:lnSpc>
              <a:spcBef>
                <a:spcPts val="0"/>
              </a:spcBef>
              <a:spcAft>
                <a:spcPts val="0"/>
              </a:spcAft>
              <a:buClr>
                <a:srgbClr val="000000"/>
              </a:buClr>
              <a:buSzPts val="1000"/>
              <a:buFont typeface="Arial"/>
              <a:buNone/>
            </a:pPr>
            <a:endParaRPr sz="1000" b="1" i="0" u="none" strike="noStrike" cap="none">
              <a:solidFill>
                <a:schemeClr val="dk1"/>
              </a:solidFill>
              <a:latin typeface="Arial"/>
              <a:ea typeface="Arial"/>
              <a:cs typeface="Arial"/>
              <a:sym typeface="Arial"/>
            </a:endParaRPr>
          </a:p>
        </p:txBody>
      </p:sp>
      <p:sp>
        <p:nvSpPr>
          <p:cNvPr id="10" name="Google Shape;10;n"/>
          <p:cNvSpPr/>
          <p:nvPr/>
        </p:nvSpPr>
        <p:spPr>
          <a:xfrm>
            <a:off x="190500" y="179388"/>
            <a:ext cx="6478588" cy="144462"/>
          </a:xfrm>
          <a:prstGeom prst="rect">
            <a:avLst/>
          </a:prstGeom>
          <a:solidFill>
            <a:srgbClr val="B5B5B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11" name="Google Shape;11;n"/>
          <p:cNvCxnSpPr/>
          <p:nvPr/>
        </p:nvCxnSpPr>
        <p:spPr>
          <a:xfrm>
            <a:off x="190500" y="360363"/>
            <a:ext cx="6478588" cy="0"/>
          </a:xfrm>
          <a:prstGeom prst="straightConnector1">
            <a:avLst/>
          </a:prstGeom>
          <a:noFill/>
          <a:ln w="15225" cap="flat" cmpd="sng">
            <a:solidFill>
              <a:schemeClr val="dk1"/>
            </a:solidFill>
            <a:prstDash val="solid"/>
            <a:round/>
            <a:headEnd type="none" w="sm" len="sm"/>
            <a:tailEnd type="none" w="sm" len="sm"/>
          </a:ln>
        </p:spPr>
      </p:cxnSp>
      <p:cxnSp>
        <p:nvCxnSpPr>
          <p:cNvPr id="12" name="Google Shape;12;n"/>
          <p:cNvCxnSpPr/>
          <p:nvPr/>
        </p:nvCxnSpPr>
        <p:spPr>
          <a:xfrm>
            <a:off x="190500" y="781050"/>
            <a:ext cx="6478588" cy="0"/>
          </a:xfrm>
          <a:prstGeom prst="straightConnector1">
            <a:avLst/>
          </a:prstGeom>
          <a:noFill/>
          <a:ln w="9525" cap="flat" cmpd="sng">
            <a:solidFill>
              <a:schemeClr val="dk1"/>
            </a:solidFill>
            <a:prstDash val="solid"/>
            <a:round/>
            <a:headEnd type="none" w="sm" len="sm"/>
            <a:tailEnd type="none" w="sm" len="sm"/>
          </a:ln>
        </p:spPr>
      </p:cxnSp>
      <p:cxnSp>
        <p:nvCxnSpPr>
          <p:cNvPr id="13" name="Google Shape;13;n"/>
          <p:cNvCxnSpPr/>
          <p:nvPr/>
        </p:nvCxnSpPr>
        <p:spPr>
          <a:xfrm>
            <a:off x="190500" y="8685213"/>
            <a:ext cx="6478588" cy="0"/>
          </a:xfrm>
          <a:prstGeom prst="straightConnector1">
            <a:avLst/>
          </a:prstGeom>
          <a:noFill/>
          <a:ln w="9525" cap="flat" cmpd="sng">
            <a:solidFill>
              <a:schemeClr val="dk1"/>
            </a:solidFill>
            <a:prstDash val="solid"/>
            <a:round/>
            <a:headEnd type="none" w="sm" len="sm"/>
            <a:tailEnd type="none" w="sm" len="sm"/>
          </a:ln>
        </p:spPr>
      </p:cxnSp>
      <p:cxnSp>
        <p:nvCxnSpPr>
          <p:cNvPr id="14" name="Google Shape;14;n"/>
          <p:cNvCxnSpPr/>
          <p:nvPr/>
        </p:nvCxnSpPr>
        <p:spPr>
          <a:xfrm>
            <a:off x="188913" y="4103688"/>
            <a:ext cx="6478587" cy="0"/>
          </a:xfrm>
          <a:prstGeom prst="straightConnector1">
            <a:avLst/>
          </a:prstGeom>
          <a:noFill/>
          <a:ln w="9525" cap="flat" cmpd="sng">
            <a:solidFill>
              <a:schemeClr val="dk1"/>
            </a:solidFill>
            <a:prstDash val="solid"/>
            <a:round/>
            <a:headEnd type="none" w="sm" len="sm"/>
            <a:tailEnd type="none" w="sm" len="sm"/>
          </a:ln>
        </p:spPr>
      </p:cxnSp>
    </p:spTree>
    <p:extLst>
      <p:ext uri="{BB962C8B-B14F-4D97-AF65-F5344CB8AC3E}">
        <p14:creationId xmlns:p14="http://schemas.microsoft.com/office/powerpoint/2010/main" val="225679276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62:notes"/>
          <p:cNvSpPr>
            <a:spLocks noGrp="1" noRot="1" noChangeAspect="1"/>
          </p:cNvSpPr>
          <p:nvPr>
            <p:ph type="sldImg" idx="2"/>
          </p:nvPr>
        </p:nvSpPr>
        <p:spPr>
          <a:xfrm>
            <a:off x="688975" y="923925"/>
            <a:ext cx="5461000" cy="30718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99" name="Google Shape;399;p62:notes"/>
          <p:cNvSpPr txBox="1">
            <a:spLocks noGrp="1"/>
          </p:cNvSpPr>
          <p:nvPr>
            <p:ph type="body" idx="1"/>
          </p:nvPr>
        </p:nvSpPr>
        <p:spPr>
          <a:xfrm>
            <a:off x="190500" y="4284663"/>
            <a:ext cx="6477000" cy="4283075"/>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120"/>
              </a:spcBef>
              <a:spcAft>
                <a:spcPts val="0"/>
              </a:spcAft>
              <a:buClr>
                <a:srgbClr val="000000"/>
              </a:buClr>
              <a:buSzPts val="1400"/>
              <a:buFont typeface="Arial"/>
              <a:buNone/>
            </a:pPr>
            <a:endParaRPr/>
          </a:p>
        </p:txBody>
      </p:sp>
      <p:sp>
        <p:nvSpPr>
          <p:cNvPr id="400" name="Google Shape;400;p62:notes"/>
          <p:cNvSpPr txBox="1">
            <a:spLocks noGrp="1"/>
          </p:cNvSpPr>
          <p:nvPr>
            <p:ph type="sldNum" idx="12"/>
          </p:nvPr>
        </p:nvSpPr>
        <p:spPr>
          <a:xfrm>
            <a:off x="5913438" y="8685213"/>
            <a:ext cx="942975" cy="4572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41772"/>
            <a:ext cx="7772400" cy="1790700"/>
          </a:xfrm>
        </p:spPr>
        <p:txBody>
          <a:bodyPr anchor="b"/>
          <a:lstStyle>
            <a:lvl1pPr algn="ctr">
              <a:defRPr sz="4500"/>
            </a:lvl1pPr>
          </a:lstStyle>
          <a:p>
            <a:r>
              <a:rPr lang="en-GB"/>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65DBD1A3-0C90-1046-9201-1D5A6413764B}"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36F7E3-1BC7-7446-B4CC-C9C07A471A83}" type="slidenum">
              <a:rPr lang="en-US" smtClean="0"/>
              <a:t>‹Nr.›</a:t>
            </a:fld>
            <a:endParaRPr lang="en-US"/>
          </a:p>
        </p:txBody>
      </p:sp>
    </p:spTree>
    <p:extLst>
      <p:ext uri="{BB962C8B-B14F-4D97-AF65-F5344CB8AC3E}">
        <p14:creationId xmlns:p14="http://schemas.microsoft.com/office/powerpoint/2010/main" val="3410738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5DBD1A3-0C90-1046-9201-1D5A6413764B}"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36F7E3-1BC7-7446-B4CC-C9C07A471A83}" type="slidenum">
              <a:rPr lang="en-US" smtClean="0"/>
              <a:t>‹Nr.›</a:t>
            </a:fld>
            <a:endParaRPr lang="en-US"/>
          </a:p>
        </p:txBody>
      </p:sp>
    </p:spTree>
    <p:extLst>
      <p:ext uri="{BB962C8B-B14F-4D97-AF65-F5344CB8AC3E}">
        <p14:creationId xmlns:p14="http://schemas.microsoft.com/office/powerpoint/2010/main" val="3493796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9" y="1282305"/>
            <a:ext cx="7886700" cy="2139553"/>
          </a:xfrm>
        </p:spPr>
        <p:txBody>
          <a:bodyPr anchor="b"/>
          <a:lstStyle>
            <a:lvl1pPr>
              <a:defRPr sz="4500"/>
            </a:lvl1pPr>
          </a:lstStyle>
          <a:p>
            <a:r>
              <a:rPr lang="en-GB"/>
              <a:t>Click to edit Master title style</a:t>
            </a:r>
            <a:endParaRPr lang="en-US" dirty="0"/>
          </a:p>
        </p:txBody>
      </p:sp>
      <p:sp>
        <p:nvSpPr>
          <p:cNvPr id="3" name="Text Placeholder 2"/>
          <p:cNvSpPr>
            <a:spLocks noGrp="1"/>
          </p:cNvSpPr>
          <p:nvPr>
            <p:ph type="body" idx="1"/>
          </p:nvPr>
        </p:nvSpPr>
        <p:spPr>
          <a:xfrm>
            <a:off x="623889" y="3442099"/>
            <a:ext cx="7886700" cy="1125140"/>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5DBD1A3-0C90-1046-9201-1D5A6413764B}"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36F7E3-1BC7-7446-B4CC-C9C07A471A83}" type="slidenum">
              <a:rPr lang="en-US" smtClean="0"/>
              <a:t>‹Nr.›</a:t>
            </a:fld>
            <a:endParaRPr lang="en-US"/>
          </a:p>
        </p:txBody>
      </p:sp>
    </p:spTree>
    <p:extLst>
      <p:ext uri="{BB962C8B-B14F-4D97-AF65-F5344CB8AC3E}">
        <p14:creationId xmlns:p14="http://schemas.microsoft.com/office/powerpoint/2010/main" val="33626880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65DBD1A3-0C90-1046-9201-1D5A6413764B}"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36F7E3-1BC7-7446-B4CC-C9C07A471A83}" type="slidenum">
              <a:rPr lang="en-US" smtClean="0"/>
              <a:t>‹Nr.›</a:t>
            </a:fld>
            <a:endParaRPr lang="en-US"/>
          </a:p>
        </p:txBody>
      </p:sp>
    </p:spTree>
    <p:extLst>
      <p:ext uri="{BB962C8B-B14F-4D97-AF65-F5344CB8AC3E}">
        <p14:creationId xmlns:p14="http://schemas.microsoft.com/office/powerpoint/2010/main" val="2736715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2" y="273846"/>
            <a:ext cx="7886700" cy="994172"/>
          </a:xfrm>
        </p:spPr>
        <p:txBody>
          <a:bodyPr/>
          <a:lstStyle/>
          <a:p>
            <a:r>
              <a:rPr lang="en-GB"/>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65DBD1A3-0C90-1046-9201-1D5A6413764B}" type="datetimeFigureOut">
              <a:rPr lang="en-US" smtClean="0"/>
              <a:t>2/18/2026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436F7E3-1BC7-7446-B4CC-C9C07A471A83}" type="slidenum">
              <a:rPr lang="en-US" smtClean="0"/>
              <a:t>‹Nr.›</a:t>
            </a:fld>
            <a:endParaRPr lang="en-US"/>
          </a:p>
        </p:txBody>
      </p:sp>
    </p:spTree>
    <p:extLst>
      <p:ext uri="{BB962C8B-B14F-4D97-AF65-F5344CB8AC3E}">
        <p14:creationId xmlns:p14="http://schemas.microsoft.com/office/powerpoint/2010/main" val="507923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65DBD1A3-0C90-1046-9201-1D5A6413764B}" type="datetimeFigureOut">
              <a:rPr lang="en-US" smtClean="0"/>
              <a:t>2/18/2026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436F7E3-1BC7-7446-B4CC-C9C07A471A83}" type="slidenum">
              <a:rPr lang="en-US" smtClean="0"/>
              <a:t>‹Nr.›</a:t>
            </a:fld>
            <a:endParaRPr lang="en-US"/>
          </a:p>
        </p:txBody>
      </p:sp>
    </p:spTree>
    <p:extLst>
      <p:ext uri="{BB962C8B-B14F-4D97-AF65-F5344CB8AC3E}">
        <p14:creationId xmlns:p14="http://schemas.microsoft.com/office/powerpoint/2010/main" val="16406436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DBD1A3-0C90-1046-9201-1D5A6413764B}" type="datetimeFigureOut">
              <a:rPr lang="en-US" smtClean="0"/>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436F7E3-1BC7-7446-B4CC-C9C07A471A83}" type="slidenum">
              <a:rPr lang="en-US" smtClean="0"/>
              <a:t>‹Nr.›</a:t>
            </a:fld>
            <a:endParaRPr lang="en-US"/>
          </a:p>
        </p:txBody>
      </p:sp>
    </p:spTree>
    <p:extLst>
      <p:ext uri="{BB962C8B-B14F-4D97-AF65-F5344CB8AC3E}">
        <p14:creationId xmlns:p14="http://schemas.microsoft.com/office/powerpoint/2010/main" val="1309448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2" y="342900"/>
            <a:ext cx="2949178" cy="1200150"/>
          </a:xfrm>
        </p:spPr>
        <p:txBody>
          <a:bodyPr anchor="b"/>
          <a:lstStyle>
            <a:lvl1pPr>
              <a:defRPr sz="2400"/>
            </a:lvl1pPr>
          </a:lstStyle>
          <a:p>
            <a:r>
              <a:rPr lang="en-GB"/>
              <a:t>Click to edit Master title style</a:t>
            </a:r>
            <a:endParaRPr lang="en-US" dirty="0"/>
          </a:p>
        </p:txBody>
      </p:sp>
      <p:sp>
        <p:nvSpPr>
          <p:cNvPr id="3" name="Content Placeholder 2"/>
          <p:cNvSpPr>
            <a:spLocks noGrp="1"/>
          </p:cNvSpPr>
          <p:nvPr>
            <p:ph idx="1"/>
          </p:nvPr>
        </p:nvSpPr>
        <p:spPr>
          <a:xfrm>
            <a:off x="3887391" y="740571"/>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29842"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65DBD1A3-0C90-1046-9201-1D5A6413764B}"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36F7E3-1BC7-7446-B4CC-C9C07A471A83}" type="slidenum">
              <a:rPr lang="en-US" smtClean="0"/>
              <a:t>‹Nr.›</a:t>
            </a:fld>
            <a:endParaRPr lang="en-US"/>
          </a:p>
        </p:txBody>
      </p:sp>
    </p:spTree>
    <p:extLst>
      <p:ext uri="{BB962C8B-B14F-4D97-AF65-F5344CB8AC3E}">
        <p14:creationId xmlns:p14="http://schemas.microsoft.com/office/powerpoint/2010/main" val="5039404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2" y="342900"/>
            <a:ext cx="2949178" cy="1200150"/>
          </a:xfrm>
        </p:spPr>
        <p:txBody>
          <a:bodyPr anchor="b"/>
          <a:lstStyle>
            <a:lvl1pPr>
              <a:defRPr sz="2400"/>
            </a:lvl1pPr>
          </a:lstStyle>
          <a:p>
            <a:r>
              <a:rPr lang="en-GB"/>
              <a:t>Click to edit Master title style</a:t>
            </a:r>
            <a:endParaRPr lang="en-US" dirty="0"/>
          </a:p>
        </p:txBody>
      </p:sp>
      <p:sp>
        <p:nvSpPr>
          <p:cNvPr id="3" name="Picture Placeholder 2"/>
          <p:cNvSpPr>
            <a:spLocks noGrp="1" noChangeAspect="1"/>
          </p:cNvSpPr>
          <p:nvPr>
            <p:ph type="pic" idx="1"/>
          </p:nvPr>
        </p:nvSpPr>
        <p:spPr>
          <a:xfrm>
            <a:off x="3887391" y="740571"/>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dirty="0"/>
          </a:p>
        </p:txBody>
      </p:sp>
      <p:sp>
        <p:nvSpPr>
          <p:cNvPr id="4" name="Text Placeholder 3"/>
          <p:cNvSpPr>
            <a:spLocks noGrp="1"/>
          </p:cNvSpPr>
          <p:nvPr>
            <p:ph type="body" sz="half" idx="2"/>
          </p:nvPr>
        </p:nvSpPr>
        <p:spPr>
          <a:xfrm>
            <a:off x="629842"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65DBD1A3-0C90-1046-9201-1D5A6413764B}"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36F7E3-1BC7-7446-B4CC-C9C07A471A83}" type="slidenum">
              <a:rPr lang="en-US" smtClean="0"/>
              <a:t>‹Nr.›</a:t>
            </a:fld>
            <a:endParaRPr lang="en-US"/>
          </a:p>
        </p:txBody>
      </p:sp>
    </p:spTree>
    <p:extLst>
      <p:ext uri="{BB962C8B-B14F-4D97-AF65-F5344CB8AC3E}">
        <p14:creationId xmlns:p14="http://schemas.microsoft.com/office/powerpoint/2010/main" val="28082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5DBD1A3-0C90-1046-9201-1D5A6413764B}"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36F7E3-1BC7-7446-B4CC-C9C07A471A83}" type="slidenum">
              <a:rPr lang="en-US" smtClean="0"/>
              <a:t>‹Nr.›</a:t>
            </a:fld>
            <a:endParaRPr lang="en-US"/>
          </a:p>
        </p:txBody>
      </p:sp>
    </p:spTree>
    <p:extLst>
      <p:ext uri="{BB962C8B-B14F-4D97-AF65-F5344CB8AC3E}">
        <p14:creationId xmlns:p14="http://schemas.microsoft.com/office/powerpoint/2010/main" val="2428718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273844"/>
            <a:ext cx="1971675" cy="4358879"/>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28651" y="273844"/>
            <a:ext cx="5800725" cy="435887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5DBD1A3-0C90-1046-9201-1D5A6413764B}"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36F7E3-1BC7-7446-B4CC-C9C07A471A83}" type="slidenum">
              <a:rPr lang="en-US" smtClean="0"/>
              <a:t>‹Nr.›</a:t>
            </a:fld>
            <a:endParaRPr lang="en-US"/>
          </a:p>
        </p:txBody>
      </p:sp>
    </p:spTree>
    <p:extLst>
      <p:ext uri="{BB962C8B-B14F-4D97-AF65-F5344CB8AC3E}">
        <p14:creationId xmlns:p14="http://schemas.microsoft.com/office/powerpoint/2010/main" val="3416493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1" y="273846"/>
            <a:ext cx="7886700" cy="994172"/>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28651" y="1369219"/>
            <a:ext cx="7886700" cy="326350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28650" y="4767264"/>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65DBD1A3-0C90-1046-9201-1D5A6413764B}" type="datetimeFigureOut">
              <a:rPr lang="en-US" smtClean="0"/>
              <a:t>2/18/2026</a:t>
            </a:fld>
            <a:endParaRPr lang="en-US"/>
          </a:p>
        </p:txBody>
      </p:sp>
      <p:sp>
        <p:nvSpPr>
          <p:cNvPr id="5" name="Footer Placeholder 4"/>
          <p:cNvSpPr>
            <a:spLocks noGrp="1"/>
          </p:cNvSpPr>
          <p:nvPr>
            <p:ph type="ftr" sz="quarter" idx="3"/>
          </p:nvPr>
        </p:nvSpPr>
        <p:spPr>
          <a:xfrm>
            <a:off x="3028951" y="4767264"/>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4"/>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436F7E3-1BC7-7446-B4CC-C9C07A471A83}" type="slidenum">
              <a:rPr lang="en-US" smtClean="0"/>
              <a:t>‹Nr.›</a:t>
            </a:fld>
            <a:endParaRPr lang="en-US"/>
          </a:p>
        </p:txBody>
      </p:sp>
    </p:spTree>
    <p:extLst>
      <p:ext uri="{BB962C8B-B14F-4D97-AF65-F5344CB8AC3E}">
        <p14:creationId xmlns:p14="http://schemas.microsoft.com/office/powerpoint/2010/main" val="3104346457"/>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62"/>
          <p:cNvSpPr/>
          <p:nvPr/>
        </p:nvSpPr>
        <p:spPr>
          <a:xfrm>
            <a:off x="1106729" y="466922"/>
            <a:ext cx="1755000" cy="1388961"/>
          </a:xfrm>
          <a:prstGeom prst="rect">
            <a:avLst/>
          </a:prstGeom>
          <a:solidFill>
            <a:schemeClr val="lt1"/>
          </a:solidFill>
          <a:ln w="19050" cap="flat" cmpd="sng">
            <a:solidFill>
              <a:schemeClr val="dk1"/>
            </a:solidFill>
            <a:prstDash val="solid"/>
            <a:miter lim="800000"/>
            <a:headEnd type="none" w="sm" len="sm"/>
            <a:tailEnd type="none" w="sm" len="sm"/>
          </a:ln>
        </p:spPr>
        <p:txBody>
          <a:bodyPr spcFirstLastPara="1" wrap="square" lIns="81000" tIns="351000" rIns="81000" bIns="54000" anchor="t" anchorCtr="0">
            <a:noAutofit/>
          </a:bodyPr>
          <a:lstStyle/>
          <a:p>
            <a:pPr lvl="0" algn="just">
              <a:buSzPts val="600"/>
            </a:pPr>
            <a:r>
              <a:rPr lang="en-US" sz="600" dirty="0"/>
              <a:t>ICU teams operate in an environment of extreme uncertainty, where patient trajectories can shift rapidly while information remains fragmented and time pressure and workload is relentless. These conditions push clinicians into constant reactive decision-making, fueling burnout, inefficient resource allocation, and costly late interventions. As a result, hospitals struggle to consistently prevent deterioration and deliver optimal outcomes, despite the expertise and effort of their staff.</a:t>
            </a:r>
            <a:endParaRPr sz="600" b="0" i="0" u="none" strike="noStrike" cap="none" dirty="0">
              <a:solidFill>
                <a:srgbClr val="000000"/>
              </a:solidFill>
              <a:latin typeface="Arial"/>
              <a:ea typeface="Arial"/>
              <a:cs typeface="Arial"/>
              <a:sym typeface="Arial"/>
            </a:endParaRPr>
          </a:p>
        </p:txBody>
      </p:sp>
      <p:sp>
        <p:nvSpPr>
          <p:cNvPr id="403" name="Google Shape;403;p62"/>
          <p:cNvSpPr/>
          <p:nvPr/>
        </p:nvSpPr>
        <p:spPr>
          <a:xfrm>
            <a:off x="1106729" y="510470"/>
            <a:ext cx="1345557" cy="2308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rgbClr val="000000"/>
                </a:solidFill>
                <a:latin typeface="Times New Roman"/>
                <a:ea typeface="Times New Roman"/>
                <a:cs typeface="Times New Roman"/>
                <a:sym typeface="Times New Roman"/>
              </a:rPr>
              <a:t>Problem Statement</a:t>
            </a:r>
            <a:endParaRPr sz="1400" b="0" i="0" u="none" strike="noStrike" cap="none">
              <a:solidFill>
                <a:srgbClr val="000000"/>
              </a:solidFill>
              <a:latin typeface="Arial"/>
              <a:ea typeface="Arial"/>
              <a:cs typeface="Arial"/>
              <a:sym typeface="Arial"/>
            </a:endParaRPr>
          </a:p>
        </p:txBody>
      </p:sp>
      <p:sp>
        <p:nvSpPr>
          <p:cNvPr id="404" name="Google Shape;404;p62"/>
          <p:cNvSpPr/>
          <p:nvPr/>
        </p:nvSpPr>
        <p:spPr>
          <a:xfrm>
            <a:off x="2612678" y="519202"/>
            <a:ext cx="193998" cy="1890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Calibri"/>
              <a:ea typeface="Calibri"/>
              <a:cs typeface="Calibri"/>
              <a:sym typeface="Calibri"/>
            </a:endParaRPr>
          </a:p>
        </p:txBody>
      </p:sp>
      <p:sp>
        <p:nvSpPr>
          <p:cNvPr id="405" name="Google Shape;405;p62"/>
          <p:cNvSpPr/>
          <p:nvPr/>
        </p:nvSpPr>
        <p:spPr>
          <a:xfrm>
            <a:off x="1106729" y="1855885"/>
            <a:ext cx="1755000" cy="1406330"/>
          </a:xfrm>
          <a:prstGeom prst="rect">
            <a:avLst/>
          </a:prstGeom>
          <a:solidFill>
            <a:schemeClr val="lt1"/>
          </a:solidFill>
          <a:ln w="19050" cap="flat" cmpd="sng">
            <a:solidFill>
              <a:schemeClr val="dk1"/>
            </a:solidFill>
            <a:prstDash val="solid"/>
            <a:miter lim="800000"/>
            <a:headEnd type="none" w="sm" len="sm"/>
            <a:tailEnd type="none" w="sm" len="sm"/>
          </a:ln>
        </p:spPr>
        <p:txBody>
          <a:bodyPr spcFirstLastPara="1" wrap="square" lIns="81000" tIns="351000" rIns="81000" bIns="54000" anchor="t" anchorCtr="0">
            <a:noAutofit/>
          </a:bodyPr>
          <a:lstStyle/>
          <a:p>
            <a:pPr lvl="0" algn="just">
              <a:buSzPts val="600"/>
            </a:pPr>
            <a:r>
              <a:rPr lang="en-US" sz="700" dirty="0"/>
              <a:t>We developed a web app as a clinical support tool for ICU staff. The web app calculates medical features based on raw measurements of the first 48 hours of an ICU admission. A ML model predicts mortality for different time horizons afterwards. This gives clinicians actionable foresight so they can intervene earlier and allocate resources more effectively.</a:t>
            </a:r>
          </a:p>
        </p:txBody>
      </p:sp>
      <p:sp>
        <p:nvSpPr>
          <p:cNvPr id="406" name="Google Shape;406;p62"/>
          <p:cNvSpPr/>
          <p:nvPr/>
        </p:nvSpPr>
        <p:spPr>
          <a:xfrm>
            <a:off x="1106729" y="1899434"/>
            <a:ext cx="1345557" cy="2308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rgbClr val="000000"/>
                </a:solidFill>
                <a:latin typeface="Times New Roman"/>
                <a:ea typeface="Times New Roman"/>
                <a:cs typeface="Times New Roman"/>
                <a:sym typeface="Times New Roman"/>
              </a:rPr>
              <a:t>Solution</a:t>
            </a:r>
            <a:endParaRPr sz="1400" b="0" i="0" u="none" strike="noStrike" cap="none">
              <a:solidFill>
                <a:srgbClr val="000000"/>
              </a:solidFill>
              <a:latin typeface="Arial"/>
              <a:ea typeface="Arial"/>
              <a:cs typeface="Arial"/>
              <a:sym typeface="Arial"/>
            </a:endParaRPr>
          </a:p>
        </p:txBody>
      </p:sp>
      <p:sp>
        <p:nvSpPr>
          <p:cNvPr id="407" name="Google Shape;407;p62"/>
          <p:cNvSpPr/>
          <p:nvPr/>
        </p:nvSpPr>
        <p:spPr>
          <a:xfrm>
            <a:off x="1106729" y="3262215"/>
            <a:ext cx="1755000" cy="1624726"/>
          </a:xfrm>
          <a:prstGeom prst="rect">
            <a:avLst/>
          </a:prstGeom>
          <a:solidFill>
            <a:schemeClr val="lt1"/>
          </a:solidFill>
          <a:ln w="19050" cap="flat" cmpd="sng">
            <a:solidFill>
              <a:schemeClr val="dk1"/>
            </a:solidFill>
            <a:prstDash val="solid"/>
            <a:miter lim="800000"/>
            <a:headEnd type="none" w="sm" len="sm"/>
            <a:tailEnd type="none" w="sm" len="sm"/>
          </a:ln>
        </p:spPr>
        <p:txBody>
          <a:bodyPr spcFirstLastPara="1" wrap="square" lIns="81000" tIns="351000" rIns="81000" bIns="54000" anchor="t" anchorCtr="0">
            <a:noAutofit/>
          </a:bodyPr>
          <a:lstStyle/>
          <a:p>
            <a:pPr lvl="0">
              <a:buSzPts val="600"/>
            </a:pPr>
            <a:r>
              <a:rPr lang="en-US" sz="800" dirty="0"/>
              <a:t>Especially ICU clinicians, nurses; but also: researchers, and hospital quality and efficiency teams.</a:t>
            </a:r>
          </a:p>
          <a:p>
            <a:pPr lvl="0">
              <a:buSzPts val="600"/>
            </a:pPr>
            <a:br>
              <a:rPr lang="en-US" sz="800" dirty="0"/>
            </a:br>
            <a:r>
              <a:rPr lang="en-US" sz="800" dirty="0"/>
              <a:t>Use cases: early risk stratification, resource planning, clinician decision support, outcome monitoring.</a:t>
            </a:r>
            <a:endParaRPr sz="1400" b="0" i="0" u="none" strike="noStrike" cap="none" dirty="0">
              <a:solidFill>
                <a:srgbClr val="000000"/>
              </a:solidFill>
              <a:latin typeface="Arial"/>
              <a:ea typeface="Arial"/>
              <a:cs typeface="Arial"/>
              <a:sym typeface="Arial"/>
            </a:endParaRPr>
          </a:p>
        </p:txBody>
      </p:sp>
      <p:sp>
        <p:nvSpPr>
          <p:cNvPr id="408" name="Google Shape;408;p62"/>
          <p:cNvSpPr/>
          <p:nvPr/>
        </p:nvSpPr>
        <p:spPr>
          <a:xfrm>
            <a:off x="1106729" y="3305763"/>
            <a:ext cx="1345557" cy="2308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rgbClr val="000000"/>
                </a:solidFill>
                <a:latin typeface="Times New Roman"/>
                <a:ea typeface="Times New Roman"/>
                <a:cs typeface="Times New Roman"/>
                <a:sym typeface="Times New Roman"/>
              </a:rPr>
              <a:t>Users &amp; Use</a:t>
            </a:r>
            <a:endParaRPr sz="1400" b="0" i="0" u="none" strike="noStrike" cap="none">
              <a:solidFill>
                <a:srgbClr val="000000"/>
              </a:solidFill>
              <a:latin typeface="Arial"/>
              <a:ea typeface="Arial"/>
              <a:cs typeface="Arial"/>
              <a:sym typeface="Arial"/>
            </a:endParaRPr>
          </a:p>
        </p:txBody>
      </p:sp>
      <p:sp>
        <p:nvSpPr>
          <p:cNvPr id="409" name="Google Shape;409;p62"/>
          <p:cNvSpPr/>
          <p:nvPr/>
        </p:nvSpPr>
        <p:spPr>
          <a:xfrm>
            <a:off x="2861729" y="466922"/>
            <a:ext cx="1755000" cy="1310834"/>
          </a:xfrm>
          <a:prstGeom prst="rect">
            <a:avLst/>
          </a:prstGeom>
          <a:solidFill>
            <a:schemeClr val="lt1"/>
          </a:solidFill>
          <a:ln w="19050" cap="flat" cmpd="sng">
            <a:solidFill>
              <a:schemeClr val="dk1"/>
            </a:solidFill>
            <a:prstDash val="solid"/>
            <a:miter lim="800000"/>
            <a:headEnd type="none" w="sm" len="sm"/>
            <a:tailEnd type="none" w="sm" len="sm"/>
          </a:ln>
        </p:spPr>
        <p:txBody>
          <a:bodyPr spcFirstLastPara="1" wrap="square" lIns="81000" tIns="351000" rIns="81000" bIns="54000" anchor="t" anchorCtr="0">
            <a:noAutofit/>
          </a:bodyPr>
          <a:lstStyle/>
          <a:p>
            <a:pPr lvl="0">
              <a:buSzPts val="600"/>
            </a:pPr>
            <a:r>
              <a:rPr lang="de-DE" sz="700" dirty="0"/>
              <a:t>MIMIC-III v1.4 </a:t>
            </a:r>
            <a:r>
              <a:rPr lang="de-DE" sz="700" dirty="0" err="1"/>
              <a:t>raw</a:t>
            </a:r>
            <a:r>
              <a:rPr lang="de-DE" sz="700" dirty="0"/>
              <a:t> CSVs.</a:t>
            </a:r>
            <a:br>
              <a:rPr lang="de-DE" sz="700" dirty="0"/>
            </a:br>
            <a:r>
              <a:rPr lang="de-DE" sz="700" dirty="0"/>
              <a:t>Core: ICUSTAYS, ADMISSIONS, PATIENTS.</a:t>
            </a:r>
            <a:br>
              <a:rPr lang="de-DE" sz="700" dirty="0"/>
            </a:br>
            <a:r>
              <a:rPr lang="de-DE" sz="700" dirty="0"/>
              <a:t>Features: CHARTEVENTS, LABEVENTS.</a:t>
            </a:r>
            <a:br>
              <a:rPr lang="de-DE" sz="700" dirty="0"/>
            </a:br>
            <a:r>
              <a:rPr lang="de-DE" sz="700" dirty="0"/>
              <a:t>Optional: MICROBIOLOGY, ICD </a:t>
            </a:r>
            <a:r>
              <a:rPr lang="de-DE" sz="700" dirty="0" err="1"/>
              <a:t>codes</a:t>
            </a:r>
            <a:r>
              <a:rPr lang="de-DE" sz="700" dirty="0"/>
              <a:t>, INPUT/OUTPUTEVENTS</a:t>
            </a:r>
            <a:r>
              <a:rPr lang="de-DE" sz="800" dirty="0"/>
              <a:t>, DIAGNOSES</a:t>
            </a:r>
            <a:endParaRPr sz="1400" b="0" i="0" u="none" strike="noStrike" cap="none" dirty="0">
              <a:solidFill>
                <a:srgbClr val="000000"/>
              </a:solidFill>
              <a:latin typeface="Arial"/>
              <a:ea typeface="Arial"/>
              <a:cs typeface="Arial"/>
              <a:sym typeface="Arial"/>
            </a:endParaRPr>
          </a:p>
        </p:txBody>
      </p:sp>
      <p:sp>
        <p:nvSpPr>
          <p:cNvPr id="410" name="Google Shape;410;p62"/>
          <p:cNvSpPr/>
          <p:nvPr/>
        </p:nvSpPr>
        <p:spPr>
          <a:xfrm>
            <a:off x="2861729" y="513597"/>
            <a:ext cx="1345557" cy="2308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rgbClr val="000000"/>
                </a:solidFill>
                <a:latin typeface="Times New Roman"/>
                <a:ea typeface="Times New Roman"/>
                <a:cs typeface="Times New Roman"/>
                <a:sym typeface="Times New Roman"/>
              </a:rPr>
              <a:t>Data Acquisition</a:t>
            </a:r>
            <a:endParaRPr sz="1400" b="0" i="0" u="none" strike="noStrike" cap="none">
              <a:solidFill>
                <a:srgbClr val="000000"/>
              </a:solidFill>
              <a:latin typeface="Arial"/>
              <a:ea typeface="Arial"/>
              <a:cs typeface="Arial"/>
              <a:sym typeface="Arial"/>
            </a:endParaRPr>
          </a:p>
        </p:txBody>
      </p:sp>
      <p:sp>
        <p:nvSpPr>
          <p:cNvPr id="411" name="Google Shape;411;p62"/>
          <p:cNvSpPr/>
          <p:nvPr/>
        </p:nvSpPr>
        <p:spPr>
          <a:xfrm>
            <a:off x="2861729" y="1777756"/>
            <a:ext cx="1755000" cy="1098350"/>
          </a:xfrm>
          <a:prstGeom prst="rect">
            <a:avLst/>
          </a:prstGeom>
          <a:solidFill>
            <a:schemeClr val="lt1"/>
          </a:solidFill>
          <a:ln w="19050" cap="flat" cmpd="sng">
            <a:solidFill>
              <a:schemeClr val="dk1"/>
            </a:solidFill>
            <a:prstDash val="solid"/>
            <a:miter lim="800000"/>
            <a:headEnd type="none" w="sm" len="sm"/>
            <a:tailEnd type="none" w="sm" len="sm"/>
          </a:ln>
        </p:spPr>
        <p:txBody>
          <a:bodyPr spcFirstLastPara="1" wrap="square" lIns="81000" tIns="351000" rIns="81000" bIns="54000" anchor="t" anchorCtr="0">
            <a:noAutofit/>
          </a:bodyPr>
          <a:lstStyle/>
          <a:p>
            <a:pPr lvl="0" algn="just">
              <a:buSzPts val="600"/>
            </a:pPr>
            <a:r>
              <a:rPr lang="en-US" sz="800" dirty="0"/>
              <a:t>Binary classification: in-hospital mortality, 90-day and 180-day mortality.</a:t>
            </a:r>
            <a:br>
              <a:rPr lang="en-US" sz="800" dirty="0"/>
            </a:br>
            <a:r>
              <a:rPr lang="en-US" sz="800" dirty="0"/>
              <a:t>Inputs: age + aggregated 48h vitals/labs (Heart Rate, Lactate, etc.).</a:t>
            </a:r>
            <a:endParaRPr sz="600" b="0" i="0" u="none" strike="noStrike" cap="none" dirty="0">
              <a:solidFill>
                <a:srgbClr val="000000"/>
              </a:solidFill>
              <a:latin typeface="Times New Roman"/>
              <a:ea typeface="Times New Roman"/>
              <a:cs typeface="Times New Roman"/>
              <a:sym typeface="Times New Roman"/>
            </a:endParaRPr>
          </a:p>
        </p:txBody>
      </p:sp>
      <p:sp>
        <p:nvSpPr>
          <p:cNvPr id="412" name="Google Shape;412;p62"/>
          <p:cNvSpPr/>
          <p:nvPr/>
        </p:nvSpPr>
        <p:spPr>
          <a:xfrm>
            <a:off x="2861729" y="1821304"/>
            <a:ext cx="1437566" cy="2308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rgbClr val="000000"/>
                </a:solidFill>
                <a:latin typeface="Times New Roman"/>
                <a:ea typeface="Times New Roman"/>
                <a:cs typeface="Times New Roman"/>
                <a:sym typeface="Times New Roman"/>
              </a:rPr>
              <a:t>Analytics Formulation</a:t>
            </a:r>
            <a:endParaRPr sz="1400" b="0" i="0" u="none" strike="noStrike" cap="none">
              <a:solidFill>
                <a:srgbClr val="000000"/>
              </a:solidFill>
              <a:latin typeface="Arial"/>
              <a:ea typeface="Arial"/>
              <a:cs typeface="Arial"/>
              <a:sym typeface="Arial"/>
            </a:endParaRPr>
          </a:p>
        </p:txBody>
      </p:sp>
      <p:sp>
        <p:nvSpPr>
          <p:cNvPr id="413" name="Google Shape;413;p62"/>
          <p:cNvSpPr/>
          <p:nvPr/>
        </p:nvSpPr>
        <p:spPr>
          <a:xfrm>
            <a:off x="2861729" y="2870979"/>
            <a:ext cx="1755000" cy="1007981"/>
          </a:xfrm>
          <a:prstGeom prst="rect">
            <a:avLst/>
          </a:prstGeom>
          <a:solidFill>
            <a:schemeClr val="lt1"/>
          </a:solidFill>
          <a:ln w="19050" cap="flat" cmpd="sng">
            <a:solidFill>
              <a:schemeClr val="dk1"/>
            </a:solidFill>
            <a:prstDash val="solid"/>
            <a:miter lim="800000"/>
            <a:headEnd type="none" w="sm" len="sm"/>
            <a:tailEnd type="none" w="sm" len="sm"/>
          </a:ln>
        </p:spPr>
        <p:txBody>
          <a:bodyPr spcFirstLastPara="1" wrap="square" lIns="81000" tIns="351000" rIns="81000" bIns="54000" anchor="t" anchorCtr="0">
            <a:noAutofit/>
          </a:bodyPr>
          <a:lstStyle/>
          <a:p>
            <a:pPr lvl="0">
              <a:buSzPts val="600"/>
            </a:pPr>
            <a:r>
              <a:rPr lang="en-US" sz="700" dirty="0"/>
              <a:t>Baseline: Logistic Regression, Random Forest.</a:t>
            </a:r>
            <a:br>
              <a:rPr lang="en-US" sz="700" dirty="0"/>
            </a:br>
            <a:r>
              <a:rPr lang="en-US" sz="700" dirty="0"/>
              <a:t>Advanced: Gradient Boosting (</a:t>
            </a:r>
            <a:r>
              <a:rPr lang="en-US" sz="700" dirty="0" err="1"/>
              <a:t>XGBoost</a:t>
            </a:r>
            <a:r>
              <a:rPr lang="en-US" sz="700" dirty="0"/>
              <a:t>/</a:t>
            </a:r>
            <a:r>
              <a:rPr lang="en-US" sz="700" dirty="0" err="1"/>
              <a:t>LightGBM</a:t>
            </a:r>
            <a:r>
              <a:rPr lang="en-US" sz="700" dirty="0"/>
              <a:t>).</a:t>
            </a:r>
            <a:br>
              <a:rPr lang="en-US" sz="700" dirty="0"/>
            </a:br>
            <a:r>
              <a:rPr lang="en-US" sz="700" dirty="0"/>
              <a:t>Model output is served via the web interface.</a:t>
            </a:r>
            <a:endParaRPr sz="700" b="0" i="0" u="none" strike="noStrike" cap="none" dirty="0">
              <a:solidFill>
                <a:srgbClr val="000000"/>
              </a:solidFill>
              <a:latin typeface="Arial"/>
              <a:ea typeface="Arial"/>
              <a:cs typeface="Arial"/>
              <a:sym typeface="Arial"/>
            </a:endParaRPr>
          </a:p>
        </p:txBody>
      </p:sp>
      <p:sp>
        <p:nvSpPr>
          <p:cNvPr id="414" name="Google Shape;414;p62"/>
          <p:cNvSpPr/>
          <p:nvPr/>
        </p:nvSpPr>
        <p:spPr>
          <a:xfrm>
            <a:off x="2861728" y="2914526"/>
            <a:ext cx="1437566" cy="2308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rgbClr val="000000"/>
                </a:solidFill>
                <a:latin typeface="Times New Roman"/>
                <a:ea typeface="Times New Roman"/>
                <a:cs typeface="Times New Roman"/>
                <a:sym typeface="Times New Roman"/>
              </a:rPr>
              <a:t>Modeling</a:t>
            </a:r>
            <a:endParaRPr sz="1400" b="0" i="0" u="none" strike="noStrike" cap="none">
              <a:solidFill>
                <a:srgbClr val="000000"/>
              </a:solidFill>
              <a:latin typeface="Arial"/>
              <a:ea typeface="Arial"/>
              <a:cs typeface="Arial"/>
              <a:sym typeface="Arial"/>
            </a:endParaRPr>
          </a:p>
        </p:txBody>
      </p:sp>
      <p:sp>
        <p:nvSpPr>
          <p:cNvPr id="415" name="Google Shape;415;p62"/>
          <p:cNvSpPr/>
          <p:nvPr/>
        </p:nvSpPr>
        <p:spPr>
          <a:xfrm>
            <a:off x="2861729" y="3878960"/>
            <a:ext cx="1755000" cy="1007981"/>
          </a:xfrm>
          <a:prstGeom prst="rect">
            <a:avLst/>
          </a:prstGeom>
          <a:solidFill>
            <a:schemeClr val="lt1"/>
          </a:solidFill>
          <a:ln w="19050" cap="flat" cmpd="sng">
            <a:solidFill>
              <a:schemeClr val="dk1"/>
            </a:solidFill>
            <a:prstDash val="solid"/>
            <a:miter lim="800000"/>
            <a:headEnd type="none" w="sm" len="sm"/>
            <a:tailEnd type="none" w="sm" len="sm"/>
          </a:ln>
        </p:spPr>
        <p:txBody>
          <a:bodyPr spcFirstLastPara="1" wrap="square" lIns="81000" tIns="351000" rIns="81000" bIns="54000" anchor="t" anchorCtr="0">
            <a:noAutofit/>
          </a:bodyPr>
          <a:lstStyle/>
          <a:p>
            <a:pPr lvl="0">
              <a:buSzPts val="600"/>
            </a:pPr>
            <a:r>
              <a:rPr lang="de-DE" sz="700" dirty="0"/>
              <a:t>Filter </a:t>
            </a:r>
            <a:r>
              <a:rPr lang="de-DE" sz="700" dirty="0" err="1"/>
              <a:t>adults</a:t>
            </a:r>
            <a:r>
              <a:rPr lang="de-DE" sz="700" dirty="0"/>
              <a:t>, LOS ≥ 48h, </a:t>
            </a:r>
            <a:r>
              <a:rPr lang="de-DE" sz="700" dirty="0" err="1"/>
              <a:t>no</a:t>
            </a:r>
            <a:r>
              <a:rPr lang="de-DE" sz="700" dirty="0"/>
              <a:t> </a:t>
            </a:r>
            <a:r>
              <a:rPr lang="de-DE" sz="700" dirty="0" err="1"/>
              <a:t>unit</a:t>
            </a:r>
            <a:r>
              <a:rPr lang="de-DE" sz="700" dirty="0"/>
              <a:t> </a:t>
            </a:r>
            <a:r>
              <a:rPr lang="de-DE" sz="700" dirty="0" err="1"/>
              <a:t>transfers</a:t>
            </a:r>
            <a:r>
              <a:rPr lang="de-DE" sz="700" dirty="0"/>
              <a:t>, </a:t>
            </a:r>
            <a:r>
              <a:rPr lang="de-DE" sz="700" dirty="0" err="1"/>
              <a:t>one</a:t>
            </a:r>
            <a:r>
              <a:rPr lang="de-DE" sz="700" dirty="0"/>
              <a:t> ICU </a:t>
            </a:r>
            <a:r>
              <a:rPr lang="de-DE" sz="700" dirty="0" err="1"/>
              <a:t>stay</a:t>
            </a:r>
            <a:r>
              <a:rPr lang="de-DE" sz="700" dirty="0"/>
              <a:t> per </a:t>
            </a:r>
            <a:r>
              <a:rPr lang="de-DE" sz="700" dirty="0" err="1"/>
              <a:t>admission</a:t>
            </a:r>
            <a:r>
              <a:rPr lang="de-DE" sz="700" dirty="0"/>
              <a:t>; clean </a:t>
            </a:r>
            <a:r>
              <a:rPr lang="de-DE" sz="700" dirty="0" err="1"/>
              <a:t>data</a:t>
            </a:r>
            <a:r>
              <a:rPr lang="de-DE" sz="700" dirty="0"/>
              <a:t>, </a:t>
            </a:r>
            <a:r>
              <a:rPr lang="de-DE" sz="700" dirty="0" err="1"/>
              <a:t>aggregate</a:t>
            </a:r>
            <a:r>
              <a:rPr lang="de-DE" sz="700" dirty="0"/>
              <a:t> </a:t>
            </a:r>
            <a:r>
              <a:rPr lang="de-DE" sz="700" dirty="0" err="1"/>
              <a:t>measurements</a:t>
            </a:r>
            <a:r>
              <a:rPr lang="de-DE" sz="700" dirty="0"/>
              <a:t>, </a:t>
            </a:r>
            <a:r>
              <a:rPr lang="de-DE" sz="700" dirty="0" err="1"/>
              <a:t>merge</a:t>
            </a:r>
            <a:r>
              <a:rPr lang="de-DE" sz="700" dirty="0"/>
              <a:t> feature </a:t>
            </a:r>
            <a:r>
              <a:rPr lang="de-DE" sz="700" dirty="0" err="1"/>
              <a:t>values</a:t>
            </a:r>
            <a:r>
              <a:rPr lang="de-DE" sz="700" dirty="0"/>
              <a:t> </a:t>
            </a:r>
            <a:r>
              <a:rPr lang="de-DE" sz="700" dirty="0" err="1"/>
              <a:t>into</a:t>
            </a:r>
            <a:r>
              <a:rPr lang="de-DE" sz="700" dirty="0"/>
              <a:t> </a:t>
            </a:r>
            <a:r>
              <a:rPr lang="de-DE" sz="700" dirty="0" err="1"/>
              <a:t>one</a:t>
            </a:r>
            <a:r>
              <a:rPr lang="de-DE" sz="700" dirty="0"/>
              <a:t> </a:t>
            </a:r>
            <a:r>
              <a:rPr lang="de-DE" sz="700" dirty="0" err="1"/>
              <a:t>df</a:t>
            </a:r>
            <a:r>
              <a:rPr lang="de-DE" sz="700" dirty="0"/>
              <a:t> (</a:t>
            </a:r>
            <a:r>
              <a:rPr lang="de-DE" sz="700" dirty="0" err="1"/>
              <a:t>one</a:t>
            </a:r>
            <a:r>
              <a:rPr lang="de-DE" sz="700" dirty="0"/>
              <a:t> </a:t>
            </a:r>
            <a:r>
              <a:rPr lang="de-DE" sz="700" dirty="0" err="1"/>
              <a:t>row</a:t>
            </a:r>
            <a:r>
              <a:rPr lang="de-DE" sz="700" dirty="0"/>
              <a:t> per ICU </a:t>
            </a:r>
            <a:r>
              <a:rPr lang="de-DE" sz="700" dirty="0" err="1"/>
              <a:t>stay</a:t>
            </a:r>
            <a:r>
              <a:rPr lang="de-DE" sz="700" dirty="0"/>
              <a:t>)</a:t>
            </a:r>
            <a:r>
              <a:rPr lang="de-DE" sz="800" dirty="0"/>
              <a:t>.</a:t>
            </a:r>
            <a:endParaRPr sz="1400" b="0" i="0" u="none" strike="noStrike" cap="none" dirty="0">
              <a:solidFill>
                <a:srgbClr val="000000"/>
              </a:solidFill>
              <a:latin typeface="Arial"/>
              <a:ea typeface="Arial"/>
              <a:cs typeface="Arial"/>
              <a:sym typeface="Arial"/>
            </a:endParaRPr>
          </a:p>
        </p:txBody>
      </p:sp>
      <p:sp>
        <p:nvSpPr>
          <p:cNvPr id="416" name="Google Shape;416;p62"/>
          <p:cNvSpPr/>
          <p:nvPr/>
        </p:nvSpPr>
        <p:spPr>
          <a:xfrm>
            <a:off x="2861728" y="3922508"/>
            <a:ext cx="1437566" cy="2308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rgbClr val="000000"/>
                </a:solidFill>
                <a:latin typeface="Times New Roman"/>
                <a:ea typeface="Times New Roman"/>
                <a:cs typeface="Times New Roman"/>
                <a:sym typeface="Times New Roman"/>
              </a:rPr>
              <a:t>Data Preparation</a:t>
            </a:r>
            <a:endParaRPr sz="1400" b="0" i="0" u="none" strike="noStrike" cap="none">
              <a:solidFill>
                <a:srgbClr val="000000"/>
              </a:solidFill>
              <a:latin typeface="Arial"/>
              <a:ea typeface="Arial"/>
              <a:cs typeface="Arial"/>
              <a:sym typeface="Arial"/>
            </a:endParaRPr>
          </a:p>
        </p:txBody>
      </p:sp>
      <p:sp>
        <p:nvSpPr>
          <p:cNvPr id="417" name="Google Shape;417;p62"/>
          <p:cNvSpPr/>
          <p:nvPr/>
        </p:nvSpPr>
        <p:spPr>
          <a:xfrm>
            <a:off x="4616729" y="467321"/>
            <a:ext cx="1755000" cy="1007981"/>
          </a:xfrm>
          <a:prstGeom prst="rect">
            <a:avLst/>
          </a:prstGeom>
          <a:solidFill>
            <a:schemeClr val="lt1"/>
          </a:solidFill>
          <a:ln w="19050" cap="flat" cmpd="sng">
            <a:solidFill>
              <a:schemeClr val="dk1"/>
            </a:solidFill>
            <a:prstDash val="solid"/>
            <a:miter lim="800000"/>
            <a:headEnd type="none" w="sm" len="sm"/>
            <a:tailEnd type="none" w="sm" len="sm"/>
          </a:ln>
        </p:spPr>
        <p:txBody>
          <a:bodyPr spcFirstLastPara="1" wrap="square" lIns="81000" tIns="351000" rIns="81000" bIns="54000" anchor="t" anchorCtr="0">
            <a:noAutofit/>
          </a:bodyPr>
          <a:lstStyle/>
          <a:p>
            <a:pPr lvl="0" algn="just">
              <a:buSzPts val="600"/>
            </a:pPr>
            <a:r>
              <a:rPr lang="de-DE" sz="800" dirty="0" err="1"/>
              <a:t>Metrics</a:t>
            </a:r>
            <a:r>
              <a:rPr lang="de-DE" sz="800" dirty="0"/>
              <a:t>: AUROC, Precision, </a:t>
            </a:r>
            <a:r>
              <a:rPr lang="de-DE" sz="800" dirty="0" err="1"/>
              <a:t>Accuracy</a:t>
            </a:r>
            <a:r>
              <a:rPr lang="de-DE" sz="800" dirty="0"/>
              <a:t>, F1 Score</a:t>
            </a:r>
            <a:endParaRPr sz="1400" b="0" i="0" u="none" strike="noStrike" cap="none" dirty="0">
              <a:solidFill>
                <a:srgbClr val="000000"/>
              </a:solidFill>
              <a:latin typeface="Arial"/>
              <a:ea typeface="Arial"/>
              <a:cs typeface="Arial"/>
              <a:sym typeface="Arial"/>
            </a:endParaRPr>
          </a:p>
        </p:txBody>
      </p:sp>
      <p:sp>
        <p:nvSpPr>
          <p:cNvPr id="418" name="Google Shape;418;p62"/>
          <p:cNvSpPr/>
          <p:nvPr/>
        </p:nvSpPr>
        <p:spPr>
          <a:xfrm>
            <a:off x="4616729" y="510869"/>
            <a:ext cx="1437566" cy="2308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rgbClr val="000000"/>
                </a:solidFill>
                <a:latin typeface="Times New Roman"/>
                <a:ea typeface="Times New Roman"/>
                <a:cs typeface="Times New Roman"/>
                <a:sym typeface="Times New Roman"/>
              </a:rPr>
              <a:t>Evaluation</a:t>
            </a:r>
            <a:endParaRPr sz="1400" b="0" i="0" u="none" strike="noStrike" cap="none">
              <a:solidFill>
                <a:srgbClr val="000000"/>
              </a:solidFill>
              <a:latin typeface="Arial"/>
              <a:ea typeface="Arial"/>
              <a:cs typeface="Arial"/>
              <a:sym typeface="Arial"/>
            </a:endParaRPr>
          </a:p>
        </p:txBody>
      </p:sp>
      <p:sp>
        <p:nvSpPr>
          <p:cNvPr id="419" name="Google Shape;419;p62"/>
          <p:cNvSpPr/>
          <p:nvPr/>
        </p:nvSpPr>
        <p:spPr>
          <a:xfrm>
            <a:off x="4616729" y="1474261"/>
            <a:ext cx="1755000" cy="1398628"/>
          </a:xfrm>
          <a:prstGeom prst="rect">
            <a:avLst/>
          </a:prstGeom>
          <a:solidFill>
            <a:schemeClr val="lt1"/>
          </a:solidFill>
          <a:ln w="19050" cap="flat" cmpd="sng">
            <a:solidFill>
              <a:schemeClr val="dk1"/>
            </a:solidFill>
            <a:prstDash val="solid"/>
            <a:miter lim="800000"/>
            <a:headEnd type="none" w="sm" len="sm"/>
            <a:tailEnd type="none" w="sm" len="sm"/>
          </a:ln>
        </p:spPr>
        <p:txBody>
          <a:bodyPr spcFirstLastPara="1" wrap="square" lIns="81000" tIns="351000" rIns="81000" bIns="54000" anchor="t" anchorCtr="0">
            <a:noAutofit/>
          </a:bodyPr>
          <a:lstStyle/>
          <a:p>
            <a:pPr lvl="0">
              <a:buSzPts val="600"/>
            </a:pPr>
            <a:r>
              <a:rPr lang="de-DE" sz="800" dirty="0" err="1"/>
              <a:t>Subjective</a:t>
            </a:r>
            <a:r>
              <a:rPr lang="de-DE" sz="800" dirty="0"/>
              <a:t>: intuitive web interface </a:t>
            </a:r>
            <a:r>
              <a:rPr lang="de-DE" sz="800" dirty="0" err="1"/>
              <a:t>clinicians</a:t>
            </a:r>
            <a:r>
              <a:rPr lang="de-DE" sz="800" dirty="0"/>
              <a:t> </a:t>
            </a:r>
            <a:r>
              <a:rPr lang="de-DE" sz="800" dirty="0" err="1"/>
              <a:t>trust</a:t>
            </a:r>
            <a:r>
              <a:rPr lang="de-DE" sz="800" dirty="0"/>
              <a:t>; transparent, </a:t>
            </a:r>
            <a:r>
              <a:rPr lang="de-DE" sz="800" dirty="0" err="1"/>
              <a:t>reproducible</a:t>
            </a:r>
            <a:r>
              <a:rPr lang="de-DE" sz="800" dirty="0"/>
              <a:t> </a:t>
            </a:r>
            <a:r>
              <a:rPr lang="de-DE" sz="800" dirty="0" err="1"/>
              <a:t>pipeline</a:t>
            </a:r>
            <a:endParaRPr lang="de-DE" sz="800" dirty="0"/>
          </a:p>
          <a:p>
            <a:pPr lvl="0">
              <a:buSzPts val="600"/>
            </a:pPr>
            <a:r>
              <a:rPr lang="de-DE" sz="800" i="0" u="none" strike="noStrike" cap="none" dirty="0" err="1">
                <a:solidFill>
                  <a:srgbClr val="000000"/>
                </a:solidFill>
                <a:latin typeface="Arial"/>
                <a:ea typeface="Arial"/>
                <a:cs typeface="Arial"/>
                <a:sym typeface="Arial"/>
              </a:rPr>
              <a:t>O</a:t>
            </a:r>
            <a:r>
              <a:rPr lang="de-DE" sz="800" dirty="0" err="1"/>
              <a:t>bjective</a:t>
            </a:r>
            <a:r>
              <a:rPr lang="de-DE" sz="800" dirty="0"/>
              <a:t>: Model, </a:t>
            </a:r>
            <a:r>
              <a:rPr lang="de-DE" sz="800" dirty="0" err="1"/>
              <a:t>that</a:t>
            </a:r>
            <a:r>
              <a:rPr lang="de-DE" sz="800" dirty="0"/>
              <a:t> </a:t>
            </a:r>
            <a:r>
              <a:rPr lang="de-DE" sz="800" dirty="0" err="1"/>
              <a:t>can</a:t>
            </a:r>
            <a:r>
              <a:rPr lang="de-DE" sz="800" dirty="0"/>
              <a:t> </a:t>
            </a:r>
            <a:r>
              <a:rPr lang="de-DE" sz="800" dirty="0" err="1"/>
              <a:t>compete</a:t>
            </a:r>
            <a:r>
              <a:rPr lang="de-DE" sz="800" dirty="0"/>
              <a:t> </a:t>
            </a:r>
            <a:r>
              <a:rPr lang="de-DE" sz="800" dirty="0" err="1"/>
              <a:t>with</a:t>
            </a:r>
            <a:r>
              <a:rPr lang="de-DE" sz="800" dirty="0"/>
              <a:t> </a:t>
            </a:r>
            <a:r>
              <a:rPr lang="de-DE" sz="800" dirty="0" err="1"/>
              <a:t>other</a:t>
            </a:r>
            <a:r>
              <a:rPr lang="de-DE" sz="800" dirty="0"/>
              <a:t> </a:t>
            </a:r>
            <a:r>
              <a:rPr lang="de-DE" sz="800" dirty="0" err="1"/>
              <a:t>models</a:t>
            </a:r>
            <a:r>
              <a:rPr lang="de-DE" sz="800" dirty="0"/>
              <a:t> </a:t>
            </a:r>
            <a:r>
              <a:rPr lang="de-DE" sz="800" dirty="0" err="1"/>
              <a:t>from</a:t>
            </a:r>
            <a:r>
              <a:rPr lang="de-DE" sz="800" dirty="0"/>
              <a:t> </a:t>
            </a:r>
            <a:r>
              <a:rPr lang="de-DE" sz="800" dirty="0" err="1"/>
              <a:t>literature</a:t>
            </a:r>
            <a:r>
              <a:rPr lang="de-DE" sz="800" dirty="0"/>
              <a:t> (in </a:t>
            </a:r>
            <a:r>
              <a:rPr lang="de-DE" sz="800" dirty="0" err="1"/>
              <a:t>terms</a:t>
            </a:r>
            <a:r>
              <a:rPr lang="de-DE" sz="800" dirty="0"/>
              <a:t> </a:t>
            </a:r>
            <a:r>
              <a:rPr lang="de-DE" sz="800" dirty="0" err="1"/>
              <a:t>of</a:t>
            </a:r>
            <a:r>
              <a:rPr lang="de-DE" sz="800" dirty="0"/>
              <a:t> i.e. AUROC)</a:t>
            </a:r>
            <a:endParaRPr sz="1400" i="0" u="none" strike="noStrike" cap="none" dirty="0">
              <a:solidFill>
                <a:srgbClr val="000000"/>
              </a:solidFill>
              <a:latin typeface="Arial"/>
              <a:ea typeface="Arial"/>
              <a:cs typeface="Arial"/>
              <a:sym typeface="Arial"/>
            </a:endParaRPr>
          </a:p>
        </p:txBody>
      </p:sp>
      <p:sp>
        <p:nvSpPr>
          <p:cNvPr id="420" name="Google Shape;420;p62"/>
          <p:cNvSpPr/>
          <p:nvPr/>
        </p:nvSpPr>
        <p:spPr>
          <a:xfrm>
            <a:off x="4616729" y="1505054"/>
            <a:ext cx="1437566" cy="2308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rgbClr val="000000"/>
                </a:solidFill>
                <a:latin typeface="Times New Roman"/>
                <a:ea typeface="Times New Roman"/>
                <a:cs typeface="Times New Roman"/>
                <a:sym typeface="Times New Roman"/>
              </a:rPr>
              <a:t>Success Criteria</a:t>
            </a:r>
            <a:endParaRPr sz="1400" b="0" i="0" u="none" strike="noStrike" cap="none">
              <a:solidFill>
                <a:srgbClr val="000000"/>
              </a:solidFill>
              <a:latin typeface="Arial"/>
              <a:ea typeface="Arial"/>
              <a:cs typeface="Arial"/>
              <a:sym typeface="Arial"/>
            </a:endParaRPr>
          </a:p>
        </p:txBody>
      </p:sp>
      <p:sp>
        <p:nvSpPr>
          <p:cNvPr id="421" name="Google Shape;421;p62"/>
          <p:cNvSpPr/>
          <p:nvPr/>
        </p:nvSpPr>
        <p:spPr>
          <a:xfrm>
            <a:off x="4616729" y="2872889"/>
            <a:ext cx="1755000" cy="1007981"/>
          </a:xfrm>
          <a:prstGeom prst="rect">
            <a:avLst/>
          </a:prstGeom>
          <a:solidFill>
            <a:schemeClr val="lt1"/>
          </a:solidFill>
          <a:ln w="19050" cap="flat" cmpd="sng">
            <a:solidFill>
              <a:schemeClr val="dk1"/>
            </a:solidFill>
            <a:prstDash val="solid"/>
            <a:miter lim="800000"/>
            <a:headEnd type="none" w="sm" len="sm"/>
            <a:tailEnd type="none" w="sm" len="sm"/>
          </a:ln>
        </p:spPr>
        <p:txBody>
          <a:bodyPr spcFirstLastPara="1" wrap="square" lIns="81000" tIns="351000" rIns="81000" bIns="54000" anchor="t" anchorCtr="0">
            <a:noAutofit/>
          </a:bodyPr>
          <a:lstStyle/>
          <a:p>
            <a:pPr lvl="0" algn="just">
              <a:buSzPts val="600"/>
            </a:pPr>
            <a:r>
              <a:rPr lang="de-DE" sz="800" dirty="0"/>
              <a:t>Single-center </a:t>
            </a:r>
            <a:r>
              <a:rPr lang="de-DE" sz="800" dirty="0" err="1"/>
              <a:t>dataset</a:t>
            </a:r>
            <a:r>
              <a:rPr lang="de-DE" sz="800" dirty="0"/>
              <a:t>, </a:t>
            </a:r>
            <a:r>
              <a:rPr lang="de-DE" sz="800" dirty="0" err="1"/>
              <a:t>timestamp</a:t>
            </a:r>
            <a:r>
              <a:rPr lang="de-DE" sz="800" dirty="0"/>
              <a:t> </a:t>
            </a:r>
            <a:r>
              <a:rPr lang="de-DE" sz="800" dirty="0" err="1"/>
              <a:t>inconsistencies</a:t>
            </a:r>
            <a:r>
              <a:rPr lang="de-DE" sz="800" dirty="0"/>
              <a:t>, </a:t>
            </a:r>
            <a:r>
              <a:rPr lang="de-DE" sz="800" dirty="0" err="1"/>
              <a:t>missing</a:t>
            </a:r>
            <a:r>
              <a:rPr lang="de-DE" sz="800" dirty="0"/>
              <a:t> </a:t>
            </a:r>
            <a:r>
              <a:rPr lang="de-DE" sz="800" dirty="0" err="1"/>
              <a:t>data</a:t>
            </a:r>
            <a:r>
              <a:rPr lang="de-DE" sz="800" dirty="0"/>
              <a:t>, </a:t>
            </a:r>
            <a:r>
              <a:rPr lang="de-DE" sz="800" dirty="0" err="1"/>
              <a:t>no</a:t>
            </a:r>
            <a:r>
              <a:rPr lang="de-DE" sz="800" dirty="0"/>
              <a:t> real-time </a:t>
            </a:r>
            <a:r>
              <a:rPr lang="de-DE" sz="800" dirty="0" err="1"/>
              <a:t>telemetry</a:t>
            </a:r>
            <a:r>
              <a:rPr lang="de-DE" sz="800" dirty="0"/>
              <a:t>, Class </a:t>
            </a:r>
            <a:r>
              <a:rPr lang="de-DE" sz="800" dirty="0" err="1"/>
              <a:t>imbalance</a:t>
            </a:r>
            <a:r>
              <a:rPr lang="de-DE" sz="800" dirty="0"/>
              <a:t> </a:t>
            </a:r>
            <a:endParaRPr sz="1400" b="0" i="0" u="none" strike="noStrike" cap="none" dirty="0">
              <a:solidFill>
                <a:srgbClr val="000000"/>
              </a:solidFill>
              <a:latin typeface="Arial"/>
              <a:ea typeface="Arial"/>
              <a:cs typeface="Arial"/>
              <a:sym typeface="Arial"/>
            </a:endParaRPr>
          </a:p>
        </p:txBody>
      </p:sp>
      <p:sp>
        <p:nvSpPr>
          <p:cNvPr id="422" name="Google Shape;422;p62"/>
          <p:cNvSpPr/>
          <p:nvPr/>
        </p:nvSpPr>
        <p:spPr>
          <a:xfrm>
            <a:off x="4616728" y="2916437"/>
            <a:ext cx="1437566" cy="2308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rgbClr val="000000"/>
                </a:solidFill>
                <a:latin typeface="Times New Roman"/>
                <a:ea typeface="Times New Roman"/>
                <a:cs typeface="Times New Roman"/>
                <a:sym typeface="Times New Roman"/>
              </a:rPr>
              <a:t>Constraints</a:t>
            </a:r>
            <a:endParaRPr sz="1400" b="0" i="0" u="none" strike="noStrike" cap="none">
              <a:solidFill>
                <a:srgbClr val="000000"/>
              </a:solidFill>
              <a:latin typeface="Arial"/>
              <a:ea typeface="Arial"/>
              <a:cs typeface="Arial"/>
              <a:sym typeface="Arial"/>
            </a:endParaRPr>
          </a:p>
        </p:txBody>
      </p:sp>
      <p:sp>
        <p:nvSpPr>
          <p:cNvPr id="423" name="Google Shape;423;p62"/>
          <p:cNvSpPr/>
          <p:nvPr/>
        </p:nvSpPr>
        <p:spPr>
          <a:xfrm>
            <a:off x="6371729" y="466280"/>
            <a:ext cx="1755000" cy="1495442"/>
          </a:xfrm>
          <a:prstGeom prst="rect">
            <a:avLst/>
          </a:prstGeom>
          <a:solidFill>
            <a:schemeClr val="lt1"/>
          </a:solidFill>
          <a:ln w="19050" cap="flat" cmpd="sng">
            <a:solidFill>
              <a:schemeClr val="dk1"/>
            </a:solidFill>
            <a:prstDash val="solid"/>
            <a:miter lim="800000"/>
            <a:headEnd type="none" w="sm" len="sm"/>
            <a:tailEnd type="none" w="sm" len="sm"/>
          </a:ln>
        </p:spPr>
        <p:txBody>
          <a:bodyPr spcFirstLastPara="1" wrap="square" lIns="81000" tIns="351000" rIns="81000" bIns="54000" anchor="t" anchorCtr="0">
            <a:noAutofit/>
          </a:bodyPr>
          <a:lstStyle/>
          <a:p>
            <a:pPr lvl="0" algn="just">
              <a:buSzPts val="600"/>
            </a:pPr>
            <a:r>
              <a:rPr lang="en-US" sz="600" dirty="0"/>
              <a:t>By giving ICU teams earlier visibility into patient risk, hospitals can reduce costly complications, shorten length of stay, and operate with far greater efficiency. This eases pressure on overstretched clinicians while enabling hospitals to deliver better outcomes without expanding staff or infrastructure. The result is a direct financial advantage: lower operating costs, stronger performance metrics, and a reputation boost that attracts talent, and long-term funding.</a:t>
            </a:r>
            <a:endParaRPr sz="600" b="0" i="0" u="none" strike="noStrike" cap="none" dirty="0">
              <a:solidFill>
                <a:srgbClr val="000000"/>
              </a:solidFill>
              <a:latin typeface="Arial"/>
              <a:ea typeface="Arial"/>
              <a:cs typeface="Arial"/>
              <a:sym typeface="Arial"/>
            </a:endParaRPr>
          </a:p>
        </p:txBody>
      </p:sp>
      <p:sp>
        <p:nvSpPr>
          <p:cNvPr id="424" name="Google Shape;424;p62"/>
          <p:cNvSpPr/>
          <p:nvPr/>
        </p:nvSpPr>
        <p:spPr>
          <a:xfrm>
            <a:off x="6371729" y="509828"/>
            <a:ext cx="1437566" cy="2308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rgbClr val="000000"/>
                </a:solidFill>
                <a:latin typeface="Times New Roman"/>
                <a:ea typeface="Times New Roman"/>
                <a:cs typeface="Times New Roman"/>
                <a:sym typeface="Times New Roman"/>
              </a:rPr>
              <a:t>Business Value</a:t>
            </a:r>
            <a:endParaRPr sz="1400" b="0" i="0" u="none" strike="noStrike" cap="none">
              <a:solidFill>
                <a:srgbClr val="000000"/>
              </a:solidFill>
              <a:latin typeface="Arial"/>
              <a:ea typeface="Arial"/>
              <a:cs typeface="Arial"/>
              <a:sym typeface="Arial"/>
            </a:endParaRPr>
          </a:p>
        </p:txBody>
      </p:sp>
      <p:sp>
        <p:nvSpPr>
          <p:cNvPr id="425" name="Google Shape;425;p62"/>
          <p:cNvSpPr/>
          <p:nvPr/>
        </p:nvSpPr>
        <p:spPr>
          <a:xfrm>
            <a:off x="6371728" y="1962041"/>
            <a:ext cx="1755000" cy="910848"/>
          </a:xfrm>
          <a:prstGeom prst="rect">
            <a:avLst/>
          </a:prstGeom>
          <a:solidFill>
            <a:schemeClr val="lt1"/>
          </a:solidFill>
          <a:ln w="19050" cap="flat" cmpd="sng">
            <a:solidFill>
              <a:schemeClr val="dk1"/>
            </a:solidFill>
            <a:prstDash val="solid"/>
            <a:miter lim="800000"/>
            <a:headEnd type="none" w="sm" len="sm"/>
            <a:tailEnd type="none" w="sm" len="sm"/>
          </a:ln>
        </p:spPr>
        <p:txBody>
          <a:bodyPr spcFirstLastPara="1" wrap="square" lIns="81000" tIns="351000" rIns="81000" bIns="54000" anchor="t" anchorCtr="0">
            <a:noAutofit/>
          </a:bodyPr>
          <a:lstStyle/>
          <a:p>
            <a:pPr lvl="0">
              <a:buSzPts val="600"/>
            </a:pPr>
            <a:r>
              <a:rPr lang="en-US" sz="700" dirty="0"/>
              <a:t>A working end-to-end pipeline + a simple web page where clinicians enter measurements and receive a predicted </a:t>
            </a:r>
            <a:r>
              <a:rPr lang="en-US" sz="700"/>
              <a:t>mortality probability</a:t>
            </a:r>
            <a:endParaRPr sz="600" b="0" i="0" u="none" strike="noStrike" cap="none" dirty="0">
              <a:solidFill>
                <a:srgbClr val="000000"/>
              </a:solidFill>
              <a:latin typeface="Arial"/>
              <a:ea typeface="Arial"/>
              <a:cs typeface="Arial"/>
              <a:sym typeface="Arial"/>
            </a:endParaRPr>
          </a:p>
        </p:txBody>
      </p:sp>
      <p:sp>
        <p:nvSpPr>
          <p:cNvPr id="426" name="Google Shape;426;p62"/>
          <p:cNvSpPr/>
          <p:nvPr/>
        </p:nvSpPr>
        <p:spPr>
          <a:xfrm>
            <a:off x="6371728" y="2005589"/>
            <a:ext cx="1437566" cy="2308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rgbClr val="000000"/>
                </a:solidFill>
                <a:latin typeface="Times New Roman"/>
                <a:ea typeface="Times New Roman"/>
                <a:cs typeface="Times New Roman"/>
                <a:sym typeface="Times New Roman"/>
              </a:rPr>
              <a:t>MVP</a:t>
            </a:r>
            <a:endParaRPr sz="1400" b="0" i="0" u="none" strike="noStrike" cap="none">
              <a:solidFill>
                <a:srgbClr val="000000"/>
              </a:solidFill>
              <a:latin typeface="Arial"/>
              <a:ea typeface="Arial"/>
              <a:cs typeface="Arial"/>
              <a:sym typeface="Arial"/>
            </a:endParaRPr>
          </a:p>
        </p:txBody>
      </p:sp>
      <p:sp>
        <p:nvSpPr>
          <p:cNvPr id="427" name="Google Shape;427;p62"/>
          <p:cNvSpPr/>
          <p:nvPr/>
        </p:nvSpPr>
        <p:spPr>
          <a:xfrm>
            <a:off x="6371728" y="2876106"/>
            <a:ext cx="1755000" cy="1007981"/>
          </a:xfrm>
          <a:prstGeom prst="rect">
            <a:avLst/>
          </a:prstGeom>
          <a:solidFill>
            <a:schemeClr val="lt1"/>
          </a:solidFill>
          <a:ln w="19050" cap="flat" cmpd="sng">
            <a:solidFill>
              <a:schemeClr val="dk1"/>
            </a:solidFill>
            <a:prstDash val="solid"/>
            <a:miter lim="800000"/>
            <a:headEnd type="none" w="sm" len="sm"/>
            <a:tailEnd type="none" w="sm" len="sm"/>
          </a:ln>
        </p:spPr>
        <p:txBody>
          <a:bodyPr spcFirstLastPara="1" wrap="square" lIns="81000" tIns="351000" rIns="81000" bIns="54000" anchor="t" anchorCtr="0">
            <a:noAutofit/>
          </a:bodyPr>
          <a:lstStyle/>
          <a:p>
            <a:pPr lvl="0" algn="just">
              <a:buSzPts val="600"/>
            </a:pPr>
            <a:r>
              <a:rPr lang="en-US" sz="800" dirty="0"/>
              <a:t>Data scientists, ML engineers, ICU clinicians; </a:t>
            </a:r>
            <a:endParaRPr sz="600" b="0" i="0" u="none" strike="noStrike" cap="none" dirty="0">
              <a:solidFill>
                <a:srgbClr val="000000"/>
              </a:solidFill>
              <a:latin typeface="Times New Roman"/>
              <a:ea typeface="Times New Roman"/>
              <a:cs typeface="Times New Roman"/>
              <a:sym typeface="Times New Roman"/>
            </a:endParaRPr>
          </a:p>
        </p:txBody>
      </p:sp>
      <p:sp>
        <p:nvSpPr>
          <p:cNvPr id="428" name="Google Shape;428;p62"/>
          <p:cNvSpPr/>
          <p:nvPr/>
        </p:nvSpPr>
        <p:spPr>
          <a:xfrm>
            <a:off x="6371728" y="2919653"/>
            <a:ext cx="1437566" cy="2308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rgbClr val="000000"/>
                </a:solidFill>
                <a:latin typeface="Times New Roman"/>
                <a:ea typeface="Times New Roman"/>
                <a:cs typeface="Times New Roman"/>
                <a:sym typeface="Times New Roman"/>
              </a:rPr>
              <a:t>Key Actors</a:t>
            </a:r>
            <a:endParaRPr sz="1400" b="0" i="0" u="none" strike="noStrike" cap="none">
              <a:solidFill>
                <a:srgbClr val="000000"/>
              </a:solidFill>
              <a:latin typeface="Arial"/>
              <a:ea typeface="Arial"/>
              <a:cs typeface="Arial"/>
              <a:sym typeface="Arial"/>
            </a:endParaRPr>
          </a:p>
        </p:txBody>
      </p:sp>
      <p:sp>
        <p:nvSpPr>
          <p:cNvPr id="429" name="Google Shape;429;p62"/>
          <p:cNvSpPr/>
          <p:nvPr/>
        </p:nvSpPr>
        <p:spPr>
          <a:xfrm>
            <a:off x="4619866" y="3878842"/>
            <a:ext cx="3506862" cy="1007981"/>
          </a:xfrm>
          <a:prstGeom prst="rect">
            <a:avLst/>
          </a:prstGeom>
          <a:solidFill>
            <a:schemeClr val="lt1"/>
          </a:solidFill>
          <a:ln w="19050" cap="flat" cmpd="sng">
            <a:solidFill>
              <a:schemeClr val="dk1"/>
            </a:solidFill>
            <a:prstDash val="solid"/>
            <a:miter lim="800000"/>
            <a:headEnd type="none" w="sm" len="sm"/>
            <a:tailEnd type="none" w="sm" len="sm"/>
          </a:ln>
        </p:spPr>
        <p:txBody>
          <a:bodyPr spcFirstLastPara="1" wrap="square" lIns="81000" tIns="351000" rIns="81000" bIns="54000" anchor="t" anchorCtr="0">
            <a:noAutofit/>
          </a:bodyPr>
          <a:lstStyle/>
          <a:p>
            <a:pPr lvl="0" algn="just">
              <a:buSzPts val="600"/>
            </a:pPr>
            <a:r>
              <a:rPr lang="de-DE" sz="800" dirty="0"/>
              <a:t>Python; </a:t>
            </a:r>
            <a:r>
              <a:rPr lang="de-DE" sz="800" dirty="0" err="1"/>
              <a:t>pandas</a:t>
            </a:r>
            <a:r>
              <a:rPr lang="de-DE" sz="800" dirty="0"/>
              <a:t>, </a:t>
            </a:r>
            <a:r>
              <a:rPr lang="de-DE" sz="800" dirty="0" err="1"/>
              <a:t>numpy</a:t>
            </a:r>
            <a:r>
              <a:rPr lang="de-DE" sz="800" dirty="0"/>
              <a:t> and </a:t>
            </a:r>
            <a:r>
              <a:rPr lang="de-DE" sz="800" dirty="0" err="1"/>
              <a:t>other</a:t>
            </a:r>
            <a:r>
              <a:rPr lang="de-DE" sz="800" dirty="0"/>
              <a:t> </a:t>
            </a:r>
            <a:r>
              <a:rPr lang="de-DE" sz="800" dirty="0" err="1"/>
              <a:t>standard</a:t>
            </a:r>
            <a:r>
              <a:rPr lang="de-DE" sz="800" dirty="0"/>
              <a:t> </a:t>
            </a:r>
            <a:r>
              <a:rPr lang="de-DE" sz="800" dirty="0" err="1"/>
              <a:t>libraries</a:t>
            </a:r>
            <a:r>
              <a:rPr lang="de-DE" sz="800" dirty="0"/>
              <a:t>; </a:t>
            </a:r>
            <a:r>
              <a:rPr lang="de-DE" sz="800" dirty="0" err="1"/>
              <a:t>scikit-learn</a:t>
            </a:r>
            <a:r>
              <a:rPr lang="de-DE" sz="800" dirty="0"/>
              <a:t>/</a:t>
            </a:r>
            <a:r>
              <a:rPr lang="de-DE" sz="800" dirty="0" err="1"/>
              <a:t>XGBoost</a:t>
            </a:r>
            <a:r>
              <a:rPr lang="de-DE" sz="800" dirty="0"/>
              <a:t>; </a:t>
            </a:r>
            <a:r>
              <a:rPr lang="de-DE" sz="800" dirty="0" err="1"/>
              <a:t>Jupyter</a:t>
            </a:r>
            <a:r>
              <a:rPr lang="de-DE" sz="800" dirty="0"/>
              <a:t>; Django.</a:t>
            </a:r>
            <a:endParaRPr sz="1400" b="0" i="0" u="none" strike="noStrike" cap="none" dirty="0">
              <a:solidFill>
                <a:srgbClr val="000000"/>
              </a:solidFill>
              <a:latin typeface="Arial"/>
              <a:ea typeface="Arial"/>
              <a:cs typeface="Arial"/>
              <a:sym typeface="Arial"/>
            </a:endParaRPr>
          </a:p>
        </p:txBody>
      </p:sp>
      <p:sp>
        <p:nvSpPr>
          <p:cNvPr id="430" name="Google Shape;430;p62"/>
          <p:cNvSpPr/>
          <p:nvPr/>
        </p:nvSpPr>
        <p:spPr>
          <a:xfrm>
            <a:off x="4613239" y="3915461"/>
            <a:ext cx="1437566" cy="2308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rgbClr val="000000"/>
                </a:solidFill>
                <a:latin typeface="Times New Roman"/>
                <a:ea typeface="Times New Roman"/>
                <a:cs typeface="Times New Roman"/>
                <a:sym typeface="Times New Roman"/>
              </a:rPr>
              <a:t>Technology stack</a:t>
            </a:r>
            <a:endParaRPr sz="1400" b="0" i="0" u="none" strike="noStrike" cap="none">
              <a:solidFill>
                <a:srgbClr val="000000"/>
              </a:solidFill>
              <a:latin typeface="Arial"/>
              <a:ea typeface="Arial"/>
              <a:cs typeface="Arial"/>
              <a:sym typeface="Arial"/>
            </a:endParaRPr>
          </a:p>
        </p:txBody>
      </p:sp>
      <p:sp>
        <p:nvSpPr>
          <p:cNvPr id="431" name="Google Shape;431;p62"/>
          <p:cNvSpPr/>
          <p:nvPr/>
        </p:nvSpPr>
        <p:spPr>
          <a:xfrm>
            <a:off x="1036885" y="105450"/>
            <a:ext cx="3023264" cy="30008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n-US" sz="1350" b="1" i="0" u="none" strike="noStrike" cap="none">
                <a:solidFill>
                  <a:srgbClr val="000000"/>
                </a:solidFill>
                <a:latin typeface="Times New Roman"/>
                <a:ea typeface="Times New Roman"/>
                <a:cs typeface="Times New Roman"/>
                <a:sym typeface="Times New Roman"/>
              </a:rPr>
              <a:t>DATA SCIENCE CANVAS</a:t>
            </a:r>
            <a:endParaRPr sz="1400" b="0" i="0" u="none" strike="noStrike" cap="none">
              <a:solidFill>
                <a:srgbClr val="000000"/>
              </a:solidFill>
              <a:latin typeface="Arial"/>
              <a:ea typeface="Arial"/>
              <a:cs typeface="Arial"/>
              <a:sym typeface="Arial"/>
            </a:endParaRPr>
          </a:p>
        </p:txBody>
      </p:sp>
      <p:sp>
        <p:nvSpPr>
          <p:cNvPr id="432" name="Google Shape;432;p62"/>
          <p:cNvSpPr/>
          <p:nvPr/>
        </p:nvSpPr>
        <p:spPr>
          <a:xfrm>
            <a:off x="5341455" y="153224"/>
            <a:ext cx="1202611" cy="175325"/>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750"/>
              <a:buFont typeface="Arial"/>
              <a:buNone/>
            </a:pPr>
            <a:endParaRPr sz="750" b="0" i="0" u="none" strike="noStrike" cap="none">
              <a:solidFill>
                <a:srgbClr val="000000"/>
              </a:solidFill>
              <a:latin typeface="Times New Roman"/>
              <a:ea typeface="Times New Roman"/>
              <a:cs typeface="Times New Roman"/>
              <a:sym typeface="Times New Roman"/>
            </a:endParaRPr>
          </a:p>
        </p:txBody>
      </p:sp>
      <p:sp>
        <p:nvSpPr>
          <p:cNvPr id="433" name="Google Shape;433;p62"/>
          <p:cNvSpPr/>
          <p:nvPr/>
        </p:nvSpPr>
        <p:spPr>
          <a:xfrm>
            <a:off x="6938161" y="146587"/>
            <a:ext cx="287504" cy="1917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750"/>
              <a:buFont typeface="Arial"/>
              <a:buNone/>
            </a:pPr>
            <a:endParaRPr sz="750" b="0" i="0" u="none" strike="noStrike" cap="none">
              <a:solidFill>
                <a:srgbClr val="000000"/>
              </a:solidFill>
              <a:latin typeface="Times New Roman"/>
              <a:ea typeface="Times New Roman"/>
              <a:cs typeface="Times New Roman"/>
              <a:sym typeface="Times New Roman"/>
            </a:endParaRPr>
          </a:p>
        </p:txBody>
      </p:sp>
      <p:sp>
        <p:nvSpPr>
          <p:cNvPr id="434" name="Google Shape;434;p62"/>
          <p:cNvSpPr/>
          <p:nvPr/>
        </p:nvSpPr>
        <p:spPr>
          <a:xfrm>
            <a:off x="7619759" y="140284"/>
            <a:ext cx="518983" cy="20336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750"/>
              <a:buFont typeface="Arial"/>
              <a:buNone/>
            </a:pPr>
            <a:endParaRPr sz="750" b="0" i="0" u="none" strike="noStrike" cap="none">
              <a:solidFill>
                <a:srgbClr val="000000"/>
              </a:solidFill>
              <a:latin typeface="Times New Roman"/>
              <a:ea typeface="Times New Roman"/>
              <a:cs typeface="Times New Roman"/>
              <a:sym typeface="Times New Roman"/>
            </a:endParaRPr>
          </a:p>
        </p:txBody>
      </p:sp>
      <p:sp>
        <p:nvSpPr>
          <p:cNvPr id="435" name="Google Shape;435;p62"/>
          <p:cNvSpPr txBox="1"/>
          <p:nvPr/>
        </p:nvSpPr>
        <p:spPr>
          <a:xfrm>
            <a:off x="7346169" y="153223"/>
            <a:ext cx="374203" cy="1846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000000"/>
                </a:solidFill>
                <a:latin typeface="Times New Roman"/>
                <a:ea typeface="Times New Roman"/>
                <a:cs typeface="Times New Roman"/>
                <a:sym typeface="Times New Roman"/>
              </a:rPr>
              <a:t>Date</a:t>
            </a:r>
            <a:endParaRPr sz="1400" b="0" i="0" u="none" strike="noStrike" cap="none">
              <a:solidFill>
                <a:srgbClr val="000000"/>
              </a:solidFill>
              <a:latin typeface="Arial"/>
              <a:ea typeface="Arial"/>
              <a:cs typeface="Arial"/>
              <a:sym typeface="Arial"/>
            </a:endParaRPr>
          </a:p>
        </p:txBody>
      </p:sp>
      <p:sp>
        <p:nvSpPr>
          <p:cNvPr id="436" name="Google Shape;436;p62"/>
          <p:cNvSpPr txBox="1"/>
          <p:nvPr/>
        </p:nvSpPr>
        <p:spPr>
          <a:xfrm>
            <a:off x="6544066" y="156865"/>
            <a:ext cx="489331" cy="1846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000000"/>
                </a:solidFill>
                <a:latin typeface="Times New Roman"/>
                <a:ea typeface="Times New Roman"/>
                <a:cs typeface="Times New Roman"/>
                <a:sym typeface="Times New Roman"/>
              </a:rPr>
              <a:t>Iteration</a:t>
            </a:r>
            <a:endParaRPr sz="1400" b="0" i="0" u="none" strike="noStrike" cap="none">
              <a:solidFill>
                <a:srgbClr val="000000"/>
              </a:solidFill>
              <a:latin typeface="Arial"/>
              <a:ea typeface="Arial"/>
              <a:cs typeface="Arial"/>
              <a:sym typeface="Arial"/>
            </a:endParaRPr>
          </a:p>
        </p:txBody>
      </p:sp>
      <p:sp>
        <p:nvSpPr>
          <p:cNvPr id="437" name="Google Shape;437;p62"/>
          <p:cNvSpPr txBox="1"/>
          <p:nvPr/>
        </p:nvSpPr>
        <p:spPr>
          <a:xfrm>
            <a:off x="4783952" y="161173"/>
            <a:ext cx="751181" cy="1846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000000"/>
                </a:solidFill>
                <a:latin typeface="Times New Roman"/>
                <a:ea typeface="Times New Roman"/>
                <a:cs typeface="Times New Roman"/>
                <a:sym typeface="Times New Roman"/>
              </a:rPr>
              <a:t>Project name</a:t>
            </a:r>
            <a:endParaRPr sz="1400" b="0" i="0" u="none" strike="noStrike" cap="none">
              <a:solidFill>
                <a:srgbClr val="000000"/>
              </a:solidFill>
              <a:latin typeface="Arial"/>
              <a:ea typeface="Arial"/>
              <a:cs typeface="Arial"/>
              <a:sym typeface="Arial"/>
            </a:endParaRPr>
          </a:p>
        </p:txBody>
      </p:sp>
      <p:sp>
        <p:nvSpPr>
          <p:cNvPr id="438" name="Google Shape;438;p62"/>
          <p:cNvSpPr txBox="1"/>
          <p:nvPr/>
        </p:nvSpPr>
        <p:spPr>
          <a:xfrm>
            <a:off x="3370301" y="167319"/>
            <a:ext cx="751181" cy="1846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000000"/>
                </a:solidFill>
                <a:latin typeface="Times New Roman"/>
                <a:ea typeface="Times New Roman"/>
                <a:cs typeface="Times New Roman"/>
                <a:sym typeface="Times New Roman"/>
              </a:rPr>
              <a:t>Customer</a:t>
            </a:r>
            <a:endParaRPr sz="1400" b="0" i="0" u="none" strike="noStrike" cap="none">
              <a:solidFill>
                <a:srgbClr val="000000"/>
              </a:solidFill>
              <a:latin typeface="Arial"/>
              <a:ea typeface="Arial"/>
              <a:cs typeface="Arial"/>
              <a:sym typeface="Arial"/>
            </a:endParaRPr>
          </a:p>
        </p:txBody>
      </p:sp>
      <p:sp>
        <p:nvSpPr>
          <p:cNvPr id="439" name="Google Shape;439;p62"/>
          <p:cNvSpPr/>
          <p:nvPr/>
        </p:nvSpPr>
        <p:spPr>
          <a:xfrm>
            <a:off x="3812536" y="156078"/>
            <a:ext cx="971417" cy="193478"/>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750"/>
              <a:buFont typeface="Arial"/>
              <a:buNone/>
            </a:pPr>
            <a:endParaRPr sz="750" b="0" i="0" u="none" strike="noStrike" cap="none">
              <a:solidFill>
                <a:srgbClr val="000000"/>
              </a:solidFill>
              <a:latin typeface="Times New Roman"/>
              <a:ea typeface="Times New Roman"/>
              <a:cs typeface="Times New Roman"/>
              <a:sym typeface="Times New Roman"/>
            </a:endParaRPr>
          </a:p>
        </p:txBody>
      </p:sp>
      <p:pic>
        <p:nvPicPr>
          <p:cNvPr id="440" name="Google Shape;440;p62" descr="Question mark"/>
          <p:cNvPicPr preferRelativeResize="0"/>
          <p:nvPr/>
        </p:nvPicPr>
        <p:blipFill rotWithShape="1">
          <a:blip r:embed="rId3">
            <a:alphaModFix/>
          </a:blip>
          <a:srcRect/>
          <a:stretch/>
        </p:blipFill>
        <p:spPr>
          <a:xfrm>
            <a:off x="2640551" y="544200"/>
            <a:ext cx="139004" cy="139004"/>
          </a:xfrm>
          <a:prstGeom prst="rect">
            <a:avLst/>
          </a:prstGeom>
          <a:noFill/>
          <a:ln>
            <a:noFill/>
          </a:ln>
        </p:spPr>
      </p:pic>
      <p:sp>
        <p:nvSpPr>
          <p:cNvPr id="441" name="Google Shape;441;p62"/>
          <p:cNvSpPr/>
          <p:nvPr/>
        </p:nvSpPr>
        <p:spPr>
          <a:xfrm>
            <a:off x="2575723" y="1911089"/>
            <a:ext cx="193998" cy="1890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Calibri"/>
              <a:ea typeface="Calibri"/>
              <a:cs typeface="Calibri"/>
              <a:sym typeface="Calibri"/>
            </a:endParaRPr>
          </a:p>
        </p:txBody>
      </p:sp>
      <p:pic>
        <p:nvPicPr>
          <p:cNvPr id="442" name="Google Shape;442;p62" descr="Lightbulb"/>
          <p:cNvPicPr preferRelativeResize="0"/>
          <p:nvPr/>
        </p:nvPicPr>
        <p:blipFill rotWithShape="1">
          <a:blip r:embed="rId4">
            <a:alphaModFix/>
          </a:blip>
          <a:srcRect/>
          <a:stretch/>
        </p:blipFill>
        <p:spPr>
          <a:xfrm>
            <a:off x="2595547" y="1933044"/>
            <a:ext cx="151172" cy="151172"/>
          </a:xfrm>
          <a:prstGeom prst="rect">
            <a:avLst/>
          </a:prstGeom>
          <a:noFill/>
          <a:ln>
            <a:noFill/>
          </a:ln>
        </p:spPr>
      </p:pic>
      <p:sp>
        <p:nvSpPr>
          <p:cNvPr id="443" name="Google Shape;443;p62"/>
          <p:cNvSpPr/>
          <p:nvPr/>
        </p:nvSpPr>
        <p:spPr>
          <a:xfrm>
            <a:off x="2575723" y="3317378"/>
            <a:ext cx="193998" cy="1890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Calibri"/>
              <a:ea typeface="Calibri"/>
              <a:cs typeface="Calibri"/>
              <a:sym typeface="Calibri"/>
            </a:endParaRPr>
          </a:p>
        </p:txBody>
      </p:sp>
      <p:pic>
        <p:nvPicPr>
          <p:cNvPr id="444" name="Google Shape;444;p62" descr="User"/>
          <p:cNvPicPr preferRelativeResize="0"/>
          <p:nvPr/>
        </p:nvPicPr>
        <p:blipFill rotWithShape="1">
          <a:blip r:embed="rId5">
            <a:alphaModFix/>
          </a:blip>
          <a:srcRect/>
          <a:stretch/>
        </p:blipFill>
        <p:spPr>
          <a:xfrm>
            <a:off x="2593543" y="3332047"/>
            <a:ext cx="155180" cy="155180"/>
          </a:xfrm>
          <a:prstGeom prst="rect">
            <a:avLst/>
          </a:prstGeom>
          <a:noFill/>
          <a:ln>
            <a:noFill/>
          </a:ln>
        </p:spPr>
      </p:pic>
      <p:sp>
        <p:nvSpPr>
          <p:cNvPr id="445" name="Google Shape;445;p62"/>
          <p:cNvSpPr/>
          <p:nvPr/>
        </p:nvSpPr>
        <p:spPr>
          <a:xfrm>
            <a:off x="4368839" y="515015"/>
            <a:ext cx="193998" cy="1890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rgbClr val="000000"/>
              </a:solidFill>
              <a:latin typeface="Courier"/>
              <a:ea typeface="Courier"/>
              <a:cs typeface="Courier"/>
              <a:sym typeface="Courier"/>
            </a:endParaRPr>
          </a:p>
        </p:txBody>
      </p:sp>
      <p:sp>
        <p:nvSpPr>
          <p:cNvPr id="446" name="Google Shape;446;p62"/>
          <p:cNvSpPr txBox="1"/>
          <p:nvPr/>
        </p:nvSpPr>
        <p:spPr>
          <a:xfrm>
            <a:off x="4121482" y="488328"/>
            <a:ext cx="688712"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00"/>
              <a:buFont typeface="Arial"/>
              <a:buNone/>
            </a:pPr>
            <a:r>
              <a:rPr lang="en-US" sz="300" b="1" i="0" u="none" strike="noStrike" cap="none">
                <a:solidFill>
                  <a:srgbClr val="000000"/>
                </a:solidFill>
                <a:latin typeface="Courier"/>
                <a:ea typeface="Courier"/>
                <a:cs typeface="Courier"/>
                <a:sym typeface="Courier"/>
              </a:rPr>
              <a:t>1010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00"/>
              <a:buFont typeface="Arial"/>
              <a:buNone/>
            </a:pPr>
            <a:r>
              <a:rPr lang="en-US" sz="300" b="1" i="0" u="none" strike="noStrike" cap="none">
                <a:solidFill>
                  <a:srgbClr val="000000"/>
                </a:solidFill>
                <a:latin typeface="Courier"/>
                <a:ea typeface="Courier"/>
                <a:cs typeface="Courier"/>
                <a:sym typeface="Courier"/>
              </a:rPr>
              <a:t>10011001</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00"/>
              <a:buFont typeface="Arial"/>
              <a:buNone/>
            </a:pPr>
            <a:r>
              <a:rPr lang="en-US" sz="300" b="1" i="0" u="none" strike="noStrike" cap="none">
                <a:solidFill>
                  <a:srgbClr val="000000"/>
                </a:solidFill>
                <a:latin typeface="Courier"/>
                <a:ea typeface="Courier"/>
                <a:cs typeface="Courier"/>
                <a:sym typeface="Courier"/>
              </a:rPr>
              <a:t>01011010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00"/>
              <a:buFont typeface="Arial"/>
              <a:buNone/>
            </a:pPr>
            <a:r>
              <a:rPr lang="en-US" sz="300" b="1" i="0" u="none" strike="noStrike" cap="none">
                <a:solidFill>
                  <a:srgbClr val="000000"/>
                </a:solidFill>
                <a:latin typeface="Courier"/>
                <a:ea typeface="Courier"/>
                <a:cs typeface="Courier"/>
                <a:sym typeface="Courier"/>
              </a:rPr>
              <a:t>0101</a:t>
            </a:r>
            <a:endParaRPr sz="1400" b="0" i="0" u="none" strike="noStrike" cap="none">
              <a:solidFill>
                <a:srgbClr val="000000"/>
              </a:solidFill>
              <a:latin typeface="Arial"/>
              <a:ea typeface="Arial"/>
              <a:cs typeface="Arial"/>
              <a:sym typeface="Arial"/>
            </a:endParaRPr>
          </a:p>
        </p:txBody>
      </p:sp>
      <p:sp>
        <p:nvSpPr>
          <p:cNvPr id="447" name="Google Shape;447;p62"/>
          <p:cNvSpPr/>
          <p:nvPr/>
        </p:nvSpPr>
        <p:spPr>
          <a:xfrm>
            <a:off x="4368839" y="1826324"/>
            <a:ext cx="193998" cy="1890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Calibri"/>
              <a:ea typeface="Calibri"/>
              <a:cs typeface="Calibri"/>
              <a:sym typeface="Calibri"/>
            </a:endParaRPr>
          </a:p>
        </p:txBody>
      </p:sp>
      <p:sp>
        <p:nvSpPr>
          <p:cNvPr id="448" name="Google Shape;448;p62"/>
          <p:cNvSpPr/>
          <p:nvPr/>
        </p:nvSpPr>
        <p:spPr>
          <a:xfrm>
            <a:off x="4368839" y="2924674"/>
            <a:ext cx="193998" cy="1890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Calibri"/>
              <a:ea typeface="Calibri"/>
              <a:cs typeface="Calibri"/>
              <a:sym typeface="Calibri"/>
            </a:endParaRPr>
          </a:p>
        </p:txBody>
      </p:sp>
      <p:sp>
        <p:nvSpPr>
          <p:cNvPr id="449" name="Google Shape;449;p62"/>
          <p:cNvSpPr/>
          <p:nvPr/>
        </p:nvSpPr>
        <p:spPr>
          <a:xfrm>
            <a:off x="4365479" y="3926064"/>
            <a:ext cx="193998" cy="1890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Calibri"/>
              <a:ea typeface="Calibri"/>
              <a:cs typeface="Calibri"/>
              <a:sym typeface="Calibri"/>
            </a:endParaRPr>
          </a:p>
        </p:txBody>
      </p:sp>
      <p:sp>
        <p:nvSpPr>
          <p:cNvPr id="450" name="Google Shape;450;p62"/>
          <p:cNvSpPr/>
          <p:nvPr/>
        </p:nvSpPr>
        <p:spPr>
          <a:xfrm>
            <a:off x="7879250" y="3928748"/>
            <a:ext cx="193998" cy="1890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Calibri"/>
              <a:ea typeface="Calibri"/>
              <a:cs typeface="Calibri"/>
              <a:sym typeface="Calibri"/>
            </a:endParaRPr>
          </a:p>
        </p:txBody>
      </p:sp>
      <p:pic>
        <p:nvPicPr>
          <p:cNvPr id="451" name="Google Shape;451;p62" descr="Database"/>
          <p:cNvPicPr preferRelativeResize="0"/>
          <p:nvPr/>
        </p:nvPicPr>
        <p:blipFill rotWithShape="1">
          <a:blip r:embed="rId6">
            <a:alphaModFix/>
          </a:blip>
          <a:srcRect/>
          <a:stretch/>
        </p:blipFill>
        <p:spPr>
          <a:xfrm>
            <a:off x="7908599" y="3958821"/>
            <a:ext cx="135000" cy="135000"/>
          </a:xfrm>
          <a:prstGeom prst="rect">
            <a:avLst/>
          </a:prstGeom>
          <a:noFill/>
          <a:ln>
            <a:noFill/>
          </a:ln>
        </p:spPr>
      </p:pic>
      <p:sp>
        <p:nvSpPr>
          <p:cNvPr id="452" name="Google Shape;452;p62"/>
          <p:cNvSpPr/>
          <p:nvPr/>
        </p:nvSpPr>
        <p:spPr>
          <a:xfrm>
            <a:off x="7849541" y="2933276"/>
            <a:ext cx="193998" cy="1890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Calibri"/>
              <a:ea typeface="Calibri"/>
              <a:cs typeface="Calibri"/>
              <a:sym typeface="Calibri"/>
            </a:endParaRPr>
          </a:p>
        </p:txBody>
      </p:sp>
      <p:sp>
        <p:nvSpPr>
          <p:cNvPr id="453" name="Google Shape;453;p62"/>
          <p:cNvSpPr/>
          <p:nvPr/>
        </p:nvSpPr>
        <p:spPr>
          <a:xfrm>
            <a:off x="7852364" y="2024338"/>
            <a:ext cx="193998" cy="1890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Calibri"/>
              <a:ea typeface="Calibri"/>
              <a:cs typeface="Calibri"/>
              <a:sym typeface="Calibri"/>
            </a:endParaRPr>
          </a:p>
        </p:txBody>
      </p:sp>
      <p:pic>
        <p:nvPicPr>
          <p:cNvPr id="454" name="Google Shape;454;p62" descr="Users"/>
          <p:cNvPicPr preferRelativeResize="0"/>
          <p:nvPr/>
        </p:nvPicPr>
        <p:blipFill rotWithShape="1">
          <a:blip r:embed="rId7">
            <a:alphaModFix/>
          </a:blip>
          <a:srcRect/>
          <a:stretch/>
        </p:blipFill>
        <p:spPr>
          <a:xfrm>
            <a:off x="7865389" y="2952144"/>
            <a:ext cx="147257" cy="147257"/>
          </a:xfrm>
          <a:prstGeom prst="rect">
            <a:avLst/>
          </a:prstGeom>
          <a:noFill/>
          <a:ln>
            <a:noFill/>
          </a:ln>
        </p:spPr>
      </p:pic>
      <p:sp>
        <p:nvSpPr>
          <p:cNvPr id="455" name="Google Shape;455;p62"/>
          <p:cNvSpPr/>
          <p:nvPr/>
        </p:nvSpPr>
        <p:spPr>
          <a:xfrm>
            <a:off x="7855859" y="515015"/>
            <a:ext cx="193998" cy="1890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Calibri"/>
              <a:ea typeface="Calibri"/>
              <a:cs typeface="Calibri"/>
              <a:sym typeface="Calibri"/>
            </a:endParaRPr>
          </a:p>
        </p:txBody>
      </p:sp>
      <p:pic>
        <p:nvPicPr>
          <p:cNvPr id="456" name="Google Shape;456;p62" descr="Dollar"/>
          <p:cNvPicPr preferRelativeResize="0"/>
          <p:nvPr/>
        </p:nvPicPr>
        <p:blipFill rotWithShape="1">
          <a:blip r:embed="rId8">
            <a:alphaModFix/>
          </a:blip>
          <a:srcRect/>
          <a:stretch/>
        </p:blipFill>
        <p:spPr>
          <a:xfrm>
            <a:off x="7872481" y="527498"/>
            <a:ext cx="162000" cy="162000"/>
          </a:xfrm>
          <a:prstGeom prst="rect">
            <a:avLst/>
          </a:prstGeom>
          <a:noFill/>
          <a:ln>
            <a:noFill/>
          </a:ln>
        </p:spPr>
      </p:pic>
      <p:pic>
        <p:nvPicPr>
          <p:cNvPr id="457" name="Google Shape;457;p62" descr="Smart Phone"/>
          <p:cNvPicPr preferRelativeResize="0"/>
          <p:nvPr/>
        </p:nvPicPr>
        <p:blipFill rotWithShape="1">
          <a:blip r:embed="rId9">
            <a:alphaModFix/>
          </a:blip>
          <a:srcRect/>
          <a:stretch/>
        </p:blipFill>
        <p:spPr>
          <a:xfrm>
            <a:off x="7872290" y="2044588"/>
            <a:ext cx="148500" cy="148500"/>
          </a:xfrm>
          <a:prstGeom prst="rect">
            <a:avLst/>
          </a:prstGeom>
          <a:noFill/>
          <a:ln>
            <a:noFill/>
          </a:ln>
        </p:spPr>
      </p:pic>
      <p:sp>
        <p:nvSpPr>
          <p:cNvPr id="458" name="Google Shape;458;p62"/>
          <p:cNvSpPr/>
          <p:nvPr/>
        </p:nvSpPr>
        <p:spPr>
          <a:xfrm>
            <a:off x="6124373" y="511403"/>
            <a:ext cx="193998" cy="1890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Calibri"/>
              <a:ea typeface="Calibri"/>
              <a:cs typeface="Calibri"/>
              <a:sym typeface="Calibri"/>
            </a:endParaRPr>
          </a:p>
        </p:txBody>
      </p:sp>
      <p:sp>
        <p:nvSpPr>
          <p:cNvPr id="459" name="Google Shape;459;p62"/>
          <p:cNvSpPr/>
          <p:nvPr/>
        </p:nvSpPr>
        <p:spPr>
          <a:xfrm>
            <a:off x="6127072" y="1514428"/>
            <a:ext cx="193998" cy="1890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Calibri"/>
              <a:ea typeface="Calibri"/>
              <a:cs typeface="Calibri"/>
              <a:sym typeface="Calibri"/>
            </a:endParaRPr>
          </a:p>
        </p:txBody>
      </p:sp>
      <p:sp>
        <p:nvSpPr>
          <p:cNvPr id="460" name="Google Shape;460;p62"/>
          <p:cNvSpPr/>
          <p:nvPr/>
        </p:nvSpPr>
        <p:spPr>
          <a:xfrm>
            <a:off x="6130774" y="2924674"/>
            <a:ext cx="193998" cy="1890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Calibri"/>
              <a:ea typeface="Calibri"/>
              <a:cs typeface="Calibri"/>
              <a:sym typeface="Calibri"/>
            </a:endParaRPr>
          </a:p>
        </p:txBody>
      </p:sp>
      <p:pic>
        <p:nvPicPr>
          <p:cNvPr id="461" name="Google Shape;461;p62" descr="Trophy"/>
          <p:cNvPicPr preferRelativeResize="0"/>
          <p:nvPr/>
        </p:nvPicPr>
        <p:blipFill rotWithShape="1">
          <a:blip r:embed="rId10">
            <a:alphaModFix/>
          </a:blip>
          <a:srcRect/>
          <a:stretch/>
        </p:blipFill>
        <p:spPr>
          <a:xfrm>
            <a:off x="6139862" y="1532928"/>
            <a:ext cx="162000" cy="162000"/>
          </a:xfrm>
          <a:prstGeom prst="rect">
            <a:avLst/>
          </a:prstGeom>
          <a:noFill/>
          <a:ln>
            <a:noFill/>
          </a:ln>
        </p:spPr>
      </p:pic>
      <p:pic>
        <p:nvPicPr>
          <p:cNvPr id="462" name="Google Shape;462;p62" descr="No sign"/>
          <p:cNvPicPr preferRelativeResize="0"/>
          <p:nvPr/>
        </p:nvPicPr>
        <p:blipFill rotWithShape="1">
          <a:blip r:embed="rId11">
            <a:alphaModFix/>
          </a:blip>
          <a:srcRect/>
          <a:stretch/>
        </p:blipFill>
        <p:spPr>
          <a:xfrm>
            <a:off x="6148853" y="2937401"/>
            <a:ext cx="162000" cy="162000"/>
          </a:xfrm>
          <a:prstGeom prst="rect">
            <a:avLst/>
          </a:prstGeom>
          <a:noFill/>
          <a:ln>
            <a:noFill/>
          </a:ln>
        </p:spPr>
      </p:pic>
      <p:pic>
        <p:nvPicPr>
          <p:cNvPr id="463" name="Google Shape;463;p62" descr="Research"/>
          <p:cNvPicPr preferRelativeResize="0"/>
          <p:nvPr/>
        </p:nvPicPr>
        <p:blipFill rotWithShape="1">
          <a:blip r:embed="rId12">
            <a:alphaModFix/>
          </a:blip>
          <a:srcRect/>
          <a:stretch/>
        </p:blipFill>
        <p:spPr>
          <a:xfrm>
            <a:off x="6137306" y="526208"/>
            <a:ext cx="162000" cy="162000"/>
          </a:xfrm>
          <a:prstGeom prst="rect">
            <a:avLst/>
          </a:prstGeom>
          <a:noFill/>
          <a:ln>
            <a:noFill/>
          </a:ln>
        </p:spPr>
      </p:pic>
      <p:sp>
        <p:nvSpPr>
          <p:cNvPr id="464" name="Google Shape;464;p62"/>
          <p:cNvSpPr/>
          <p:nvPr/>
        </p:nvSpPr>
        <p:spPr>
          <a:xfrm>
            <a:off x="4283969" y="1851575"/>
            <a:ext cx="396262" cy="16158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50"/>
              <a:buFont typeface="Arial"/>
              <a:buNone/>
            </a:pPr>
            <a:r>
              <a:rPr lang="en-US" sz="450" b="1" i="0" u="none" strike="noStrike" cap="none">
                <a:solidFill>
                  <a:srgbClr val="000000"/>
                </a:solidFill>
                <a:latin typeface="Courier"/>
                <a:ea typeface="Courier"/>
                <a:cs typeface="Courier"/>
                <a:sym typeface="Courier"/>
              </a:rPr>
              <a:t>f(x)= </a:t>
            </a:r>
            <a:endParaRPr sz="1400" b="0" i="0" u="none" strike="noStrike" cap="none">
              <a:solidFill>
                <a:srgbClr val="000000"/>
              </a:solidFill>
              <a:latin typeface="Arial"/>
              <a:ea typeface="Arial"/>
              <a:cs typeface="Arial"/>
              <a:sym typeface="Arial"/>
            </a:endParaRPr>
          </a:p>
        </p:txBody>
      </p:sp>
      <p:pic>
        <p:nvPicPr>
          <p:cNvPr id="465" name="Google Shape;465;p62" descr="Gears"/>
          <p:cNvPicPr preferRelativeResize="0"/>
          <p:nvPr/>
        </p:nvPicPr>
        <p:blipFill rotWithShape="1">
          <a:blip r:embed="rId13">
            <a:alphaModFix/>
          </a:blip>
          <a:srcRect/>
          <a:stretch/>
        </p:blipFill>
        <p:spPr>
          <a:xfrm>
            <a:off x="4397160" y="2957437"/>
            <a:ext cx="136379" cy="136379"/>
          </a:xfrm>
          <a:prstGeom prst="rect">
            <a:avLst/>
          </a:prstGeom>
          <a:noFill/>
          <a:ln>
            <a:noFill/>
          </a:ln>
        </p:spPr>
      </p:pic>
      <p:pic>
        <p:nvPicPr>
          <p:cNvPr id="466" name="Google Shape;466;p62" descr="Mop and bucket"/>
          <p:cNvPicPr preferRelativeResize="0"/>
          <p:nvPr/>
        </p:nvPicPr>
        <p:blipFill rotWithShape="1">
          <a:blip r:embed="rId14">
            <a:alphaModFix/>
          </a:blip>
          <a:srcRect/>
          <a:stretch/>
        </p:blipFill>
        <p:spPr>
          <a:xfrm>
            <a:off x="4393996" y="3951146"/>
            <a:ext cx="136379" cy="136379"/>
          </a:xfrm>
          <a:prstGeom prst="rect">
            <a:avLst/>
          </a:prstGeom>
          <a:noFill/>
          <a:ln>
            <a:noFill/>
          </a:ln>
        </p:spPr>
      </p:pic>
      <p:sp>
        <p:nvSpPr>
          <p:cNvPr id="467" name="Google Shape;467;p62"/>
          <p:cNvSpPr txBox="1"/>
          <p:nvPr/>
        </p:nvSpPr>
        <p:spPr>
          <a:xfrm>
            <a:off x="4516748" y="4899965"/>
            <a:ext cx="3677223" cy="23083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450"/>
              <a:buFont typeface="Arial"/>
              <a:buNone/>
            </a:pPr>
            <a:r>
              <a:rPr lang="en-US" sz="450" b="0" i="0" u="none" strike="noStrike" cap="none">
                <a:solidFill>
                  <a:srgbClr val="000000"/>
                </a:solidFill>
                <a:latin typeface="Times New Roman"/>
                <a:ea typeface="Times New Roman"/>
                <a:cs typeface="Times New Roman"/>
                <a:sym typeface="Times New Roman"/>
              </a:rPr>
              <a:t>Created by Spryfox GmbH, licensed under a creative commons attribution-sharealike 4.0 international license</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450"/>
              <a:buFont typeface="Arial"/>
              <a:buNone/>
            </a:pPr>
            <a:r>
              <a:rPr lang="en-US" sz="450" b="0" i="0" u="none" strike="noStrike" cap="none">
                <a:solidFill>
                  <a:srgbClr val="000000"/>
                </a:solidFill>
                <a:latin typeface="Times New Roman"/>
                <a:ea typeface="Times New Roman"/>
                <a:cs typeface="Times New Roman"/>
                <a:sym typeface="Times New Roman"/>
              </a:rPr>
              <a:t>inspired by the Business model canvas of Osterwalder et al</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arissa-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542</Words>
  <Application>Microsoft Office PowerPoint</Application>
  <PresentationFormat>Bildschirmpräsentation (16:9)</PresentationFormat>
  <Paragraphs>43</Paragraphs>
  <Slides>1</Slides>
  <Notes>1</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vt:i4>
      </vt:variant>
    </vt:vector>
  </HeadingPairs>
  <TitlesOfParts>
    <vt:vector size="7" baseType="lpstr">
      <vt:lpstr>Arial</vt:lpstr>
      <vt:lpstr>Calibri</vt:lpstr>
      <vt:lpstr>Calibri Light</vt:lpstr>
      <vt:lpstr>Courier</vt:lpstr>
      <vt:lpstr>Times New Roman</vt:lpstr>
      <vt:lpstr>Office Theme</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Moritz Lohse</dc:creator>
  <cp:lastModifiedBy>Maximilian Scheiwein</cp:lastModifiedBy>
  <cp:revision>79</cp:revision>
  <dcterms:created xsi:type="dcterms:W3CDTF">2009-12-23T09:42:49Z</dcterms:created>
  <dcterms:modified xsi:type="dcterms:W3CDTF">2026-02-18T09:16:53Z</dcterms:modified>
</cp:coreProperties>
</file>