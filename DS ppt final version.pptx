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1" r:id="rId3"/>
    <p:sldId id="277" r:id="rId4"/>
    <p:sldId id="258" r:id="rId5"/>
    <p:sldId id="276" r:id="rId6"/>
    <p:sldId id="274" r:id="rId7"/>
    <p:sldId id="259" r:id="rId8"/>
    <p:sldId id="260" r:id="rId9"/>
    <p:sldId id="288" r:id="rId10"/>
    <p:sldId id="272" r:id="rId11"/>
    <p:sldId id="273" r:id="rId12"/>
    <p:sldId id="264" r:id="rId13"/>
    <p:sldId id="282" r:id="rId14"/>
    <p:sldId id="289" r:id="rId15"/>
    <p:sldId id="290" r:id="rId16"/>
    <p:sldId id="266" r:id="rId17"/>
    <p:sldId id="265" r:id="rId18"/>
    <p:sldId id="267" r:id="rId19"/>
    <p:sldId id="292" r:id="rId20"/>
    <p:sldId id="268" r:id="rId21"/>
    <p:sldId id="269" r:id="rId22"/>
    <p:sldId id="270" r:id="rId23"/>
    <p:sldId id="271" r:id="rId24"/>
    <p:sldId id="293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7749" autoAdjust="0"/>
  </p:normalViewPr>
  <p:slideViewPr>
    <p:cSldViewPr snapToGrid="0" snapToObjects="1">
      <p:cViewPr>
        <p:scale>
          <a:sx n="97" d="100"/>
          <a:sy n="97" d="100"/>
        </p:scale>
        <p:origin x="102" y="324"/>
      </p:cViewPr>
      <p:guideLst/>
    </p:cSldViewPr>
  </p:slideViewPr>
  <p:notesTextViewPr>
    <p:cViewPr>
      <p:scale>
        <a:sx n="98" d="100"/>
        <a:sy n="98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5522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ijnurstu.2017.09.003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healthcare11050710?urlappend=%3Futm_source%3Dresearchgate.net%26utm_medium%3Darticle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doi.org/10.1016/j.ccc.2011.10.003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21485-4109-0411-7BA9-0F4D3FC35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5C57CE-AE69-A8DE-D704-56ADFB36C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F1478-9CA3-1231-F129-A20A08C13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https://ohiostate.elsevierpure.com/en/publications/a-new-simplified-acute-physiology-score-saps-ii-based-on-a-europe/ (SAPS II reference)
- https://jamanetwork.com/journals/JAMA/articlepdf/409377/jama_270_20_037.pdf (MPM II reference)
- https://link.springer.com/article/10.1007/BF01720917 (discussion of limitations for individual prediction)
[/Sources]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Melaku,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Ermiyas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Endewunet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al. “Determinants of Mortality of Patients Admitted to the Intensive Care Unit at Debre Berhan Comprehensive Specialized Hospital: A Retrospective Cohort Study.”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Patient related outcome measures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vol. 15 61-70. 22 Feb. 2024, doi:10.2147/PROM.S450502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35648-5115-6DC2-204A-1390D340BB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18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404C9-F728-7846-E7F6-40341388C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ACF21-53A4-A7DB-4C5D-AEA29F44E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A6E0E2-B1C6-EE93-48F3-61C618ABE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https://doi.org/10.1016/j.ijnurstu.2017.09.003.
- https://ohiostate.elsevierpure.com/en/publications/a-new-simplified-acute-physiology-score-saps-ii-based-on-a-europe/ (SAPS II reference)
https://jamanetwork.com/journals/JAMA/articlepdf/409377/jama_270_20_037.pdf (MPM II reference)</a:t>
            </a:r>
          </a:p>
          <a:p>
            <a:pPr marL="171450" indent="-171450">
              <a:buFontTx/>
              <a:buChar char="-"/>
            </a:pPr>
            <a:r>
              <a:rPr lang="en-US" dirty="0"/>
              <a:t>https://link.springer.com/article/10.1007/BF01720917 (discussion of limitations for individual prediction)
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Persistent link using digital object identifier"/>
              </a:rPr>
              <a:t>https://doi.org/10.1016/j.ijnurstu.2017.09.003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D0932-CCF1-B855-46FA-E01C8DF04E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15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F6B68-8D33-3A4A-9636-516C0C57B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F7EAE-3D71-1D07-14BE-266653222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8B34C-DAC1-76AC-9DE9-EB6B550BA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33E88-831B-A3AA-F7B8-99463FC697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14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47D7B-6D11-03C9-46D3-D974BBE3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F2478E-9055-F654-9A0C-8D64ADDCB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AACA2-984F-2C42-3DCB-304E2BB26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SCCM, https://sccm.org/communications/</a:t>
            </a:r>
            <a:r>
              <a:rPr lang="en-US" sz="1200" b="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critical-care-statistics </a:t>
            </a:r>
          </a:p>
          <a:p>
            <a:r>
              <a:rPr lang="en-US" sz="1200" b="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of Predictive Schemes and Clinical Diagnosis for Prognosis Using MIMIC-III: A Systematic Review 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DOI: </a:t>
            </a:r>
          </a:p>
          <a:p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10.3390/healthcare11050710</a:t>
            </a:r>
            <a:endParaRPr lang="en-US" sz="1200" b="0" dirty="0">
              <a:solidFill>
                <a:srgbClr val="3A465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Costs of Critical Care Medicine 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10.1016/j.ccc.2011.10.003</a:t>
            </a:r>
            <a:endParaRPr lang="en-US" sz="1200" b="0" i="0" u="sng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Dasta, Joseph F et al. “Daily cost of an intensive care unit day: the contribution of mechanical ventilation.”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Critical care medicine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vol. 33,6 (2005): 1266-71. doi:10.1097/01.ccm.0000164543.14619.00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en-US" sz="1200" dirty="0">
              <a:solidFill>
                <a:srgbClr val="3A465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00E56-D96A-F855-236A-82F6F94E1F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48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https://physionet.org/content/mimiciii/1.4/ (MIMIC-III access + description)
- https://europepmc.org/articles/PMC4878278 (MIMIC-III paper)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C3A65-376B-8A4E-317B-8B861D80D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96F9F-6A5B-CC00-5786-71E9EC31A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ECC5B0-D2B1-B858-8237-A54513A8D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https://arxiv.org/abs/1603.02754 (XGBoost)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9633A-F0EA-6872-48D7-3AF1AFCD01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339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31D87-F4D8-A48C-FD8A-95649BD03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2C4C57-F440-81E7-1F17-E9E0BA016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39CF39-7A84-29ED-61E4-086744730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https://arxiv.org/abs/1705.07874 (SHAP)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8266A-B716-81F2-C475-9532B07B7B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430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306F6-9DF9-DCA9-5949-3E631F585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733231-F711-6A41-ECA3-9E60357AC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C1616-A166-55F8-5783-906802121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https://arxiv.org/abs/1705.07874 (SHAP)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1BCFF-BC25-C5E6-CAEA-E6FD5F1F95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807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53B8B-ECA0-C68B-5700-A1F8D0B79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B242FF-9F0B-8102-4E86-9092388F3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FC387-72E8-B756-18DB-2D722B1DF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5810F-CD2E-0F10-9B57-F73E7BF856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861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9F78E-820B-6D03-5B03-3B0EF3D11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9729E8-ECBA-1595-5061-2B878C206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DEF231-F935-939B-D9C3-62D87BB86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https://arxiv.org/abs/1603.02754 (XGBoost)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C08E1-32A7-2783-3DD6-E6CB4D2F51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267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7ACDC-D6E0-8562-7436-E9F2B843F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408A2-3BC8-6454-1F61-8B2F0DA67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F1BCF8-6800-0961-FC8D-96C62BA93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https://arxiv.org/abs/1603.02754 (XGBoost)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2D746-6EDF-FBE8-73CB-344A15E654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1812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EF391-D00F-A0AA-615E-6489FE450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09EAB-56C0-A3B6-3CBA-FB82D657B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DEC447-AC9B-5AB3-1F14-40A23E874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D5012-5A13-7FCF-9A0F-54D6E0F5E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7280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Hur,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Sujeong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al. “Comparison of SHAP and clinician friendly explanations reveals effects on clinical decision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behaviour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NPJ digital medicine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vol. 8,1 578. 26 Sep. 2025, doi:10.1038/s41746-025-01958-8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https://doi.org/10.2196/44065.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Balch, J.A., Brandberg, J.G., Andris, R.T.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al.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Equipping mathematical models for hospital dynamics using information theory. </a:t>
            </a:r>
            <a:r>
              <a:rPr lang="en-US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npj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Digit. Med.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652 (2025). https://doi.org/10.1038/s41746-025-02013-2</a:t>
            </a:r>
          </a:p>
          <a:p>
            <a:pPr marL="171450" indent="-171450">
              <a:buFontTx/>
              <a:buChar char="-"/>
            </a:pPr>
            <a:r>
              <a:rPr lang="en-US" dirty="0"/>
              <a:t>
- https://physionet.org/content/mimiciii/1.4/ (MIMIC-III access + context for dataset limitations)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https://physionet.org/content/mimiciii/1.4/ (dataset)
- https://arxiv.org/abs/1603.02754 (XGBoost)
- https://arxiv.org/abs/1705.07874 (SHAP)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8BA5C-73D5-848B-834A-FB9D086C3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EF9EF4-A32C-933E-B934-F25EF9A5A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AB75C4-E67E-8895-8C91-2E54DD15B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84541-08B7-4FC5-07AD-9E2D1E7982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157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ijnurstu.2017.09.003" TargetMode="External"/><Relationship Id="rId7" Type="http://schemas.openxmlformats.org/officeDocument/2006/relationships/hyperlink" Target="https://doi.org/10.1038/s41746-025-02013-2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2196/44065" TargetMode="External"/><Relationship Id="rId5" Type="http://schemas.openxmlformats.org/officeDocument/2006/relationships/hyperlink" Target="https://doi.org/10.1016/j.ccc.2011.10.003" TargetMode="External"/><Relationship Id="rId4" Type="http://schemas.openxmlformats.org/officeDocument/2006/relationships/hyperlink" Target="https://doi.org/10.3390/healthcare11050710?urlappend=%3Futm_source%3Dresearchgate.net%26utm_medium%3Darticl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icu_monitor_unsplash.jpg"/>
          <p:cNvPicPr>
            <a:picLocks noChangeAspect="1"/>
          </p:cNvPicPr>
          <p:nvPr/>
        </p:nvPicPr>
        <p:blipFill>
          <a:blip r:embed="rId3"/>
          <a:srcRect t="14" b="1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>
              <a:alpha val="55000"/>
            </a:srgbClr>
          </a:solidFill>
          <a:ln w="12700">
            <a:solidFill>
              <a:srgbClr val="0B1F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201168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Prediction in ICU Patients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D5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Quantum-Six </a:t>
            </a:r>
            <a:endParaRPr lang="en-US" sz="2800" b="1" dirty="0"/>
          </a:p>
        </p:txBody>
      </p:sp>
      <p:sp>
        <p:nvSpPr>
          <p:cNvPr id="6" name="Shape 3"/>
          <p:cNvSpPr/>
          <p:nvPr/>
        </p:nvSpPr>
        <p:spPr>
          <a:xfrm>
            <a:off x="548640" y="3749040"/>
            <a:ext cx="2560320" cy="7315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409651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CFD60-962A-2D2C-B946-FD8200FEA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80429F-93D3-4A6E-74A2-212AB3FABFFC}"/>
              </a:ext>
            </a:extLst>
          </p:cNvPr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338BD2-C883-69B9-FA98-0543BF8379FF}"/>
              </a:ext>
            </a:extLst>
          </p:cNvPr>
          <p:cNvSpPr/>
          <p:nvPr/>
        </p:nvSpPr>
        <p:spPr>
          <a:xfrm>
            <a:off x="54864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C247181-E21D-332B-F160-3AC03095336A}"/>
              </a:ext>
            </a:extLst>
          </p:cNvPr>
          <p:cNvSpPr/>
          <p:nvPr/>
        </p:nvSpPr>
        <p:spPr>
          <a:xfrm>
            <a:off x="4389120" y="1097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2630257-2119-2477-AEA7-C296299B5A21}"/>
              </a:ext>
            </a:extLst>
          </p:cNvPr>
          <p:cNvGrpSpPr/>
          <p:nvPr/>
        </p:nvGrpSpPr>
        <p:grpSpPr>
          <a:xfrm>
            <a:off x="471549" y="997349"/>
            <a:ext cx="10571942" cy="4863302"/>
            <a:chOff x="471549" y="997349"/>
            <a:chExt cx="10571942" cy="4863302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7CBEC743-8DBA-A69A-35AC-C7DDB801E4C4}"/>
                </a:ext>
              </a:extLst>
            </p:cNvPr>
            <p:cNvSpPr/>
            <p:nvPr/>
          </p:nvSpPr>
          <p:spPr>
            <a:xfrm>
              <a:off x="471549" y="997349"/>
              <a:ext cx="10571942" cy="486330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50800" dist="25400" dir="27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DB402A28-7102-D828-ABA2-B89A33F10401}"/>
                </a:ext>
              </a:extLst>
            </p:cNvPr>
            <p:cNvSpPr/>
            <p:nvPr/>
          </p:nvSpPr>
          <p:spPr>
            <a:xfrm>
              <a:off x="713232" y="1490472"/>
              <a:ext cx="5044288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0B12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Project Overview</a:t>
              </a:r>
              <a:endParaRPr lang="en-US" sz="24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43DFBC49-861E-9651-7EE6-2BD9C847879D}"/>
                </a:ext>
              </a:extLst>
            </p:cNvPr>
            <p:cNvSpPr/>
            <p:nvPr/>
          </p:nvSpPr>
          <p:spPr>
            <a:xfrm>
              <a:off x="713231" y="1856232"/>
              <a:ext cx="10063235" cy="37947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228600" indent="-228600">
                <a:lnSpc>
                  <a:spcPct val="115000"/>
                </a:lnSpc>
                <a:buSzPct val="100000"/>
                <a:buChar char="•"/>
              </a:pPr>
              <a:endParaRPr lang="en-US" sz="20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228600" indent="-228600">
                <a:lnSpc>
                  <a:spcPct val="115000"/>
                </a:lnSpc>
                <a:buSzPct val="100000"/>
                <a:buChar char="•"/>
              </a:pPr>
              <a:r>
                <a:rPr lang="en-US" sz="2400" dirty="0">
                  <a:solidFill>
                    <a:srgbClr val="3A46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Mortality rates in ICUs are usually high (overall 35.9%</a:t>
              </a:r>
              <a:r>
                <a:rPr lang="en-US" sz="2000" dirty="0"/>
                <a:t>)</a:t>
              </a:r>
              <a:r>
                <a:rPr lang="en-US" sz="2400" dirty="0">
                  <a:solidFill>
                    <a:srgbClr val="3A46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; early identification of high-risk patients is critical for proper treatment and better survival outcomes</a:t>
              </a:r>
            </a:p>
            <a:p>
              <a:pPr>
                <a:lnSpc>
                  <a:spcPct val="115000"/>
                </a:lnSpc>
                <a:buSzPct val="100000"/>
              </a:pPr>
              <a:endParaRPr lang="en-US" sz="24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228600" indent="-228600">
                <a:lnSpc>
                  <a:spcPct val="115000"/>
                </a:lnSpc>
                <a:buSzPct val="100000"/>
                <a:buChar char="•"/>
              </a:pPr>
              <a:r>
                <a:rPr lang="en-US" sz="2400" dirty="0">
                  <a:solidFill>
                    <a:srgbClr val="3A46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Predict patient mortality using the MIMIC-III dataset, applying data science and machine learning techniques.</a:t>
              </a:r>
            </a:p>
            <a:p>
              <a:pPr>
                <a:lnSpc>
                  <a:spcPct val="115000"/>
                </a:lnSpc>
                <a:buSzPct val="100000"/>
              </a:pPr>
              <a:endParaRPr lang="en-US" sz="24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228600" indent="-228600">
                <a:lnSpc>
                  <a:spcPct val="115000"/>
                </a:lnSpc>
                <a:buSzPct val="100000"/>
                <a:buChar char="•"/>
              </a:pPr>
              <a:r>
                <a:rPr lang="en-US" sz="2400" dirty="0">
                  <a:solidFill>
                    <a:srgbClr val="3A46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Develop end-to-end ML pipeline with a web interface for clinicians to make data-driven decisions</a:t>
              </a:r>
            </a:p>
            <a:p>
              <a:pPr marL="228600" indent="-228600">
                <a:lnSpc>
                  <a:spcPct val="115000"/>
                </a:lnSpc>
                <a:buSzPct val="100000"/>
                <a:buChar char="•"/>
              </a:pPr>
              <a:endParaRPr lang="en-US" dirty="0"/>
            </a:p>
          </p:txBody>
        </p:sp>
      </p:grpSp>
      <p:sp>
        <p:nvSpPr>
          <p:cNvPr id="14" name="Shape 12">
            <a:extLst>
              <a:ext uri="{FF2B5EF4-FFF2-40B4-BE49-F238E27FC236}">
                <a16:creationId xmlns:a16="http://schemas.microsoft.com/office/drawing/2014/main" id="{D05674F8-E040-9DB4-FE0E-2EFD8FCE6893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3F8E397-8D80-1C44-6B24-2F16EC279287}"/>
              </a:ext>
            </a:extLst>
          </p:cNvPr>
          <p:cNvSpPr/>
          <p:nvPr/>
        </p:nvSpPr>
        <p:spPr>
          <a:xfrm>
            <a:off x="548640" y="6601968"/>
            <a:ext cx="10362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Quantum-Six • ICU Mortality Prediction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47BB11C-1F34-F3C1-FA64-4D4E322CB75D}"/>
              </a:ext>
            </a:extLst>
          </p:cNvPr>
          <p:cNvSpPr/>
          <p:nvPr/>
        </p:nvSpPr>
        <p:spPr>
          <a:xfrm>
            <a:off x="11277295" y="6601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1DD2E383-0522-0A05-AA79-61CC7BC798AA}"/>
              </a:ext>
            </a:extLst>
          </p:cNvPr>
          <p:cNvSpPr/>
          <p:nvPr/>
        </p:nvSpPr>
        <p:spPr>
          <a:xfrm flipV="1">
            <a:off x="738572" y="1865376"/>
            <a:ext cx="10037895" cy="45719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353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74F77-809B-04FA-5D2F-24CA92703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9FB06E-B333-CA61-523D-3B4E1F4495C2}"/>
              </a:ext>
            </a:extLst>
          </p:cNvPr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BDC2238-33E6-672C-F0A7-ED6E9BCFC240}"/>
              </a:ext>
            </a:extLst>
          </p:cNvPr>
          <p:cNvSpPr/>
          <p:nvPr/>
        </p:nvSpPr>
        <p:spPr>
          <a:xfrm>
            <a:off x="54864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Need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2E3D17-B6BF-2B02-C9DA-DE345C9EE588}"/>
              </a:ext>
            </a:extLst>
          </p:cNvPr>
          <p:cNvSpPr/>
          <p:nvPr/>
        </p:nvSpPr>
        <p:spPr>
          <a:xfrm>
            <a:off x="4389120" y="1097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8FF9D42-A381-F1B8-2480-F099BA3F6194}"/>
              </a:ext>
            </a:extLst>
          </p:cNvPr>
          <p:cNvSpPr/>
          <p:nvPr/>
        </p:nvSpPr>
        <p:spPr>
          <a:xfrm>
            <a:off x="548640" y="713232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u="sng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mortality prediction in the ICU?</a:t>
            </a:r>
            <a:endParaRPr lang="en-US" sz="3000" u="sng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38C8633-4E8E-A04E-99CE-2FAB7F581868}"/>
              </a:ext>
            </a:extLst>
          </p:cNvPr>
          <p:cNvSpPr/>
          <p:nvPr/>
        </p:nvSpPr>
        <p:spPr>
          <a:xfrm>
            <a:off x="548640" y="1325880"/>
            <a:ext cx="5318608" cy="4999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E7D696A-DC90-B66C-F17B-DF15B643FCAF}"/>
              </a:ext>
            </a:extLst>
          </p:cNvPr>
          <p:cNvSpPr/>
          <p:nvPr/>
        </p:nvSpPr>
        <p:spPr>
          <a:xfrm>
            <a:off x="548640" y="1325880"/>
            <a:ext cx="45719" cy="494016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0B108CA-04A1-E130-098F-70087771CFE7}"/>
              </a:ext>
            </a:extLst>
          </p:cNvPr>
          <p:cNvSpPr/>
          <p:nvPr/>
        </p:nvSpPr>
        <p:spPr>
          <a:xfrm>
            <a:off x="713232" y="1490472"/>
            <a:ext cx="504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u="sng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challenge</a:t>
            </a:r>
            <a:endParaRPr lang="en-US" sz="1800" u="sng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364440E-AB3A-980F-C2C3-9103415696FB}"/>
              </a:ext>
            </a:extLst>
          </p:cNvPr>
          <p:cNvSpPr/>
          <p:nvPr/>
        </p:nvSpPr>
        <p:spPr>
          <a:xfrm>
            <a:off x="713232" y="1856232"/>
            <a:ext cx="5044288" cy="44098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teams need accurate predictions to prioritize care and allocate resources effectively</a:t>
            </a:r>
          </a:p>
          <a:p>
            <a:pPr>
              <a:lnSpc>
                <a:spcPct val="115000"/>
              </a:lnSpc>
              <a:buSzPct val="100000"/>
            </a:pP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trajectories are nonlinear and ICU patient's conditions change rapidly, with fluctuating lab results, vitals, and organ failure markers</a:t>
            </a:r>
          </a:p>
          <a:p>
            <a:pPr>
              <a:lnSpc>
                <a:spcPct val="115000"/>
              </a:lnSpc>
              <a:buSzPct val="100000"/>
            </a:pPr>
            <a:endParaRPr lang="en-US" sz="2000" dirty="0">
              <a:solidFill>
                <a:srgbClr val="3A465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must be transparent — clinicians need why a prediction is made not just what, to ensure trust and proper action</a:t>
            </a:r>
            <a:endParaRPr lang="en-US" sz="2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897BA46-B032-3975-45BE-31EFC9F51615}"/>
              </a:ext>
            </a:extLst>
          </p:cNvPr>
          <p:cNvSpPr/>
          <p:nvPr/>
        </p:nvSpPr>
        <p:spPr>
          <a:xfrm>
            <a:off x="6324447" y="1309716"/>
            <a:ext cx="5318608" cy="50161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45560B2-E505-522B-3271-E6DBBFA0AC61}"/>
              </a:ext>
            </a:extLst>
          </p:cNvPr>
          <p:cNvSpPr/>
          <p:nvPr/>
        </p:nvSpPr>
        <p:spPr>
          <a:xfrm>
            <a:off x="6324448" y="1325880"/>
            <a:ext cx="73152" cy="495633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E8C7FCD-6E64-664F-C998-C5AA06672447}"/>
              </a:ext>
            </a:extLst>
          </p:cNvPr>
          <p:cNvSpPr/>
          <p:nvPr/>
        </p:nvSpPr>
        <p:spPr>
          <a:xfrm>
            <a:off x="6233007" y="1490472"/>
            <a:ext cx="504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u="sng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traditional scores</a:t>
            </a:r>
            <a:endParaRPr lang="en-US" sz="1800" u="sng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8B74F6E-79AF-BB90-815C-373A0E2706AB}"/>
              </a:ext>
            </a:extLst>
          </p:cNvPr>
          <p:cNvSpPr/>
          <p:nvPr/>
        </p:nvSpPr>
        <p:spPr>
          <a:xfrm>
            <a:off x="6489040" y="1852042"/>
            <a:ext cx="5044288" cy="44738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/>
              <a:t>Scores such as SAPS II and MPM II rely on fixed formulas,  potentially leading to underperformance in personalized care</a:t>
            </a: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endParaRPr lang="en-US" sz="2000" dirty="0">
              <a:solidFill>
                <a:srgbClr val="3A465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temporal window (first 24 hours) and may not capture complex interactions. Inadequate ability to capture complex Interactions</a:t>
            </a:r>
          </a:p>
          <a:p>
            <a:pPr>
              <a:lnSpc>
                <a:spcPct val="115000"/>
              </a:lnSpc>
              <a:buSzPct val="100000"/>
            </a:pP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with larger, rich datasets offer more personalized, data-driven predictions over extended time periods</a:t>
            </a:r>
            <a:endParaRPr lang="en-US" sz="2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4AA949E-6354-1A3C-F257-3F9FE05C8B7A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02773DE-BA4E-380A-7B1E-F9373F5463BE}"/>
              </a:ext>
            </a:extLst>
          </p:cNvPr>
          <p:cNvSpPr/>
          <p:nvPr/>
        </p:nvSpPr>
        <p:spPr>
          <a:xfrm>
            <a:off x="548640" y="6601968"/>
            <a:ext cx="10362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Quantum-Six • ICU Mortality Prediction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1432FD2-60F8-57E4-B0BB-38E65E0B0154}"/>
              </a:ext>
            </a:extLst>
          </p:cNvPr>
          <p:cNvSpPr/>
          <p:nvPr/>
        </p:nvSpPr>
        <p:spPr>
          <a:xfrm>
            <a:off x="11277295" y="6601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85387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0" y="1097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15258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3515258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305805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separate models for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In-hospital mortality</a:t>
            </a:r>
            <a:endParaRPr lang="en-US" sz="2000" dirty="0"/>
          </a:p>
          <a:p>
            <a:r>
              <a:rPr lang="en-US" sz="20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90-day mortality</a:t>
            </a:r>
            <a:endParaRPr lang="en-US" sz="2000" dirty="0"/>
          </a:p>
          <a:p>
            <a:r>
              <a:rPr lang="en-US" sz="20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180-day mortality</a:t>
            </a:r>
            <a:endParaRPr lang="en-US" sz="2000" dirty="0"/>
          </a:p>
          <a:p>
            <a:pPr marL="0" indent="0">
              <a:buNone/>
            </a:pPr>
            <a:endParaRPr lang="en-US" sz="2000" dirty="0">
              <a:solidFill>
                <a:srgbClr val="3A465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early ICU data to generate a probability and risk tier.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38218" y="1417320"/>
            <a:ext cx="3515258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38218" y="1417320"/>
            <a:ext cx="3515258" cy="10972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66818" y="164592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66818" y="2148840"/>
            <a:ext cx="305805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SHAP to explain individual predictions.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clinically interpretable “risk drivers” (lactate, GCS).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Trust, and Clinical Review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27797" y="1417320"/>
            <a:ext cx="3515258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27797" y="1417320"/>
            <a:ext cx="3515258" cy="109728"/>
          </a:xfrm>
          <a:prstGeom prst="rect">
            <a:avLst/>
          </a:prstGeom>
          <a:solidFill>
            <a:srgbClr val="1B8F5A"/>
          </a:solidFill>
          <a:ln w="12700">
            <a:solidFill>
              <a:srgbClr val="1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56397" y="1645920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56397" y="2148840"/>
            <a:ext cx="305805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Django web app for clinicians.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real hospital data flows using JSON time-stamped measurements.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predictions and show a risk-sorted patient overview.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6601968"/>
            <a:ext cx="10362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Quantum-Six • ICU Mortality Prediction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7295" y="6601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F9D22-C60B-C571-AA6F-9FDC02E1F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BC7081-2790-71AB-8F63-FA3A78E2931A}"/>
              </a:ext>
            </a:extLst>
          </p:cNvPr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3825945-5AE4-B439-6652-572CA5709BF0}"/>
              </a:ext>
            </a:extLst>
          </p:cNvPr>
          <p:cNvSpPr/>
          <p:nvPr/>
        </p:nvSpPr>
        <p:spPr>
          <a:xfrm>
            <a:off x="54864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Beneficiaries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23724BD-6AB5-A8DC-1F5B-44B8AC55DA8D}"/>
              </a:ext>
            </a:extLst>
          </p:cNvPr>
          <p:cNvSpPr/>
          <p:nvPr/>
        </p:nvSpPr>
        <p:spPr>
          <a:xfrm>
            <a:off x="4389120" y="1097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AE95C1-F31E-77ED-0980-D62886486761}"/>
              </a:ext>
            </a:extLst>
          </p:cNvPr>
          <p:cNvSpPr/>
          <p:nvPr/>
        </p:nvSpPr>
        <p:spPr>
          <a:xfrm>
            <a:off x="548640" y="71323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u="sng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and Benefits in ICU Mortality Prediction</a:t>
            </a:r>
            <a:endParaRPr lang="en-US" sz="2800" u="sng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1D59593-B762-5ED3-4D44-4E85F67273FD}"/>
              </a:ext>
            </a:extLst>
          </p:cNvPr>
          <p:cNvSpPr/>
          <p:nvPr/>
        </p:nvSpPr>
        <p:spPr>
          <a:xfrm>
            <a:off x="548640" y="1417320"/>
            <a:ext cx="3515258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CAE7BF9-C7C1-2DAC-AC69-BE8D3DA34597}"/>
              </a:ext>
            </a:extLst>
          </p:cNvPr>
          <p:cNvSpPr/>
          <p:nvPr/>
        </p:nvSpPr>
        <p:spPr>
          <a:xfrm>
            <a:off x="1331062" y="1715795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sng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</a:t>
            </a:r>
            <a:endParaRPr lang="en-US" sz="2000" u="sng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75219EE-687C-AE31-5D60-492243FA81F9}"/>
              </a:ext>
            </a:extLst>
          </p:cNvPr>
          <p:cNvSpPr/>
          <p:nvPr/>
        </p:nvSpPr>
        <p:spPr>
          <a:xfrm>
            <a:off x="777240" y="2148840"/>
            <a:ext cx="305805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solidFill>
                <a:srgbClr val="3A465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ICU clinicians (doctors &amp; nurses)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Rapid response / ICU outreach teams</a:t>
            </a:r>
          </a:p>
          <a:p>
            <a:endParaRPr lang="en-US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B62FF54-D333-93F1-1C60-5ECA390D90DF}"/>
              </a:ext>
            </a:extLst>
          </p:cNvPr>
          <p:cNvSpPr/>
          <p:nvPr/>
        </p:nvSpPr>
        <p:spPr>
          <a:xfrm>
            <a:off x="4389120" y="1648968"/>
            <a:ext cx="3515258" cy="3745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B3CF8E4-761B-1266-6C96-54C6A28102A6}"/>
              </a:ext>
            </a:extLst>
          </p:cNvPr>
          <p:cNvSpPr/>
          <p:nvPr/>
        </p:nvSpPr>
        <p:spPr>
          <a:xfrm>
            <a:off x="4846320" y="1721859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sng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users</a:t>
            </a:r>
            <a:endParaRPr lang="en-US" sz="2000" u="sng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767BFDB-7C34-E9D9-3EB6-C28CDBBB49E2}"/>
              </a:ext>
            </a:extLst>
          </p:cNvPr>
          <p:cNvSpPr/>
          <p:nvPr/>
        </p:nvSpPr>
        <p:spPr>
          <a:xfrm>
            <a:off x="4292498" y="2346960"/>
            <a:ext cx="305805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&amp; ICU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A465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researchers &amp; data scientists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6FACB51-D65A-CADD-86EE-D71F9C62A013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D2B2D1E-9028-331B-FCB7-16EB666C518D}"/>
              </a:ext>
            </a:extLst>
          </p:cNvPr>
          <p:cNvSpPr/>
          <p:nvPr/>
        </p:nvSpPr>
        <p:spPr>
          <a:xfrm>
            <a:off x="548640" y="6601968"/>
            <a:ext cx="10362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Quantum-Six • ICU Mortality Prediction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01C06EA-154A-7C3D-F422-A37E9C924D04}"/>
              </a:ext>
            </a:extLst>
          </p:cNvPr>
          <p:cNvSpPr/>
          <p:nvPr/>
        </p:nvSpPr>
        <p:spPr>
          <a:xfrm>
            <a:off x="11277295" y="6601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944A7631-8736-6EA1-2B19-5E7BB760CFA6}"/>
              </a:ext>
            </a:extLst>
          </p:cNvPr>
          <p:cNvSpPr/>
          <p:nvPr/>
        </p:nvSpPr>
        <p:spPr>
          <a:xfrm>
            <a:off x="8229600" y="1694688"/>
            <a:ext cx="3515258" cy="3745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026766A1-E41E-E7BF-BB18-025C8DE00A98}"/>
              </a:ext>
            </a:extLst>
          </p:cNvPr>
          <p:cNvSpPr/>
          <p:nvPr/>
        </p:nvSpPr>
        <p:spPr>
          <a:xfrm>
            <a:off x="9012022" y="1715795"/>
            <a:ext cx="3058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sng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</a:t>
            </a:r>
            <a:endParaRPr lang="en-US" sz="2000" u="sng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9EBA99DE-F45F-A5CF-4D73-690BAB196300}"/>
              </a:ext>
            </a:extLst>
          </p:cNvPr>
          <p:cNvSpPr/>
          <p:nvPr/>
        </p:nvSpPr>
        <p:spPr>
          <a:xfrm>
            <a:off x="8356702" y="2323461"/>
            <a:ext cx="305805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- timely and targeted treatment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3A465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-  Cost optimization and better resource management; prioritization; operational efficiency, etc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030D6BB-CA03-D95F-5E73-1C5A84E074F1}"/>
              </a:ext>
            </a:extLst>
          </p:cNvPr>
          <p:cNvSpPr/>
          <p:nvPr/>
        </p:nvSpPr>
        <p:spPr>
          <a:xfrm>
            <a:off x="1427684" y="2035835"/>
            <a:ext cx="1767800" cy="5178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7702743E-F69A-D915-01CC-B90022A4773F}"/>
              </a:ext>
            </a:extLst>
          </p:cNvPr>
          <p:cNvSpPr/>
          <p:nvPr/>
        </p:nvSpPr>
        <p:spPr>
          <a:xfrm>
            <a:off x="4937626" y="2029771"/>
            <a:ext cx="1935121" cy="51784"/>
          </a:xfrm>
          <a:prstGeom prst="rect">
            <a:avLst/>
          </a:prstGeom>
          <a:solidFill>
            <a:srgbClr val="00B050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8167A6E2-B03B-CCB6-106F-09BF78E2A0F8}"/>
              </a:ext>
            </a:extLst>
          </p:cNvPr>
          <p:cNvSpPr/>
          <p:nvPr/>
        </p:nvSpPr>
        <p:spPr>
          <a:xfrm>
            <a:off x="9093138" y="2019921"/>
            <a:ext cx="1767800" cy="51784"/>
          </a:xfrm>
          <a:prstGeom prst="rect">
            <a:avLst/>
          </a:prstGeom>
          <a:solidFill>
            <a:srgbClr val="0070C0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347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23C4F-9BCA-6781-1632-60DE75FB1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B2C394-2AA4-2946-5841-7F8D7CA60921}"/>
              </a:ext>
            </a:extLst>
          </p:cNvPr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F85490-7D2E-8797-379F-6131D16D9207}"/>
              </a:ext>
            </a:extLst>
          </p:cNvPr>
          <p:cNvSpPr/>
          <p:nvPr/>
        </p:nvSpPr>
        <p:spPr>
          <a:xfrm>
            <a:off x="54864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57D8A1C-037D-89A8-FB02-EB79EEB3C9FE}"/>
              </a:ext>
            </a:extLst>
          </p:cNvPr>
          <p:cNvSpPr/>
          <p:nvPr/>
        </p:nvSpPr>
        <p:spPr>
          <a:xfrm>
            <a:off x="4389120" y="1097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DBD0A66-E155-E0B6-C004-057E4F0C1DE8}"/>
              </a:ext>
            </a:extLst>
          </p:cNvPr>
          <p:cNvSpPr/>
          <p:nvPr/>
        </p:nvSpPr>
        <p:spPr>
          <a:xfrm>
            <a:off x="548640" y="71323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deployment potential</a:t>
            </a: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AF938FD-F950-BD56-9E2B-0F1C8040D94A}"/>
              </a:ext>
            </a:extLst>
          </p:cNvPr>
          <p:cNvSpPr/>
          <p:nvPr/>
        </p:nvSpPr>
        <p:spPr>
          <a:xfrm>
            <a:off x="548640" y="1417320"/>
            <a:ext cx="5364328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A212CB2-3EE1-6708-5F50-8F41CE462102}"/>
              </a:ext>
            </a:extLst>
          </p:cNvPr>
          <p:cNvSpPr/>
          <p:nvPr/>
        </p:nvSpPr>
        <p:spPr>
          <a:xfrm>
            <a:off x="548640" y="1417320"/>
            <a:ext cx="73152" cy="228600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2FABD7B-1DB7-C6A8-4108-47D0F7F04094}"/>
              </a:ext>
            </a:extLst>
          </p:cNvPr>
          <p:cNvSpPr/>
          <p:nvPr/>
        </p:nvSpPr>
        <p:spPr>
          <a:xfrm>
            <a:off x="749808" y="1618488"/>
            <a:ext cx="4907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hospitals care 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229E703-39E4-7E35-4D66-63FC2B336C72}"/>
              </a:ext>
            </a:extLst>
          </p:cNvPr>
          <p:cNvSpPr/>
          <p:nvPr/>
        </p:nvSpPr>
        <p:spPr>
          <a:xfrm>
            <a:off x="749808" y="2039112"/>
            <a:ext cx="49071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care ≈ 13% of hospital costs (SCCM)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day ≈ $3k–$4k/day after day 3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6D74F97-61EB-AD59-CB59-FAF629E02388}"/>
              </a:ext>
            </a:extLst>
          </p:cNvPr>
          <p:cNvGrpSpPr/>
          <p:nvPr/>
        </p:nvGrpSpPr>
        <p:grpSpPr>
          <a:xfrm>
            <a:off x="585216" y="3904488"/>
            <a:ext cx="5364328" cy="2286000"/>
            <a:chOff x="6278727" y="1417320"/>
            <a:chExt cx="5364328" cy="2286000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E1F63F7D-3D04-930B-D1C2-02FC27EE39D9}"/>
                </a:ext>
              </a:extLst>
            </p:cNvPr>
            <p:cNvSpPr/>
            <p:nvPr/>
          </p:nvSpPr>
          <p:spPr>
            <a:xfrm>
              <a:off x="6278727" y="1417320"/>
              <a:ext cx="5364328" cy="2286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  <a:effectLst>
              <a:outerShdw blurRad="50800" dist="25400" dir="27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F72E4A6E-C470-EADC-8B07-F12E9877E57B}"/>
                </a:ext>
              </a:extLst>
            </p:cNvPr>
            <p:cNvSpPr/>
            <p:nvPr/>
          </p:nvSpPr>
          <p:spPr>
            <a:xfrm>
              <a:off x="6278728" y="1417320"/>
              <a:ext cx="73152" cy="2286000"/>
            </a:xfrm>
            <a:prstGeom prst="rect">
              <a:avLst/>
            </a:prstGeom>
            <a:solidFill>
              <a:srgbClr val="B26A00"/>
            </a:solidFill>
            <a:ln w="12700">
              <a:solidFill>
                <a:srgbClr val="B26A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Shape 20">
            <a:extLst>
              <a:ext uri="{FF2B5EF4-FFF2-40B4-BE49-F238E27FC236}">
                <a16:creationId xmlns:a16="http://schemas.microsoft.com/office/drawing/2014/main" id="{01B505B7-80F9-91D4-0151-64E9D5499BE8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ECB5956-94FE-B1DD-F56A-329CB023F846}"/>
              </a:ext>
            </a:extLst>
          </p:cNvPr>
          <p:cNvSpPr/>
          <p:nvPr/>
        </p:nvSpPr>
        <p:spPr>
          <a:xfrm>
            <a:off x="548640" y="6601968"/>
            <a:ext cx="10362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Quantum-Six • ICU Mortality Prediction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961BDEF-C873-B32C-3A51-D14BDF8C8270}"/>
              </a:ext>
            </a:extLst>
          </p:cNvPr>
          <p:cNvSpPr/>
          <p:nvPr/>
        </p:nvSpPr>
        <p:spPr>
          <a:xfrm>
            <a:off x="11277295" y="6601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E4637BDB-C8D2-25E3-A901-64D2A6B3CB2A}"/>
              </a:ext>
            </a:extLst>
          </p:cNvPr>
          <p:cNvSpPr/>
          <p:nvPr/>
        </p:nvSpPr>
        <p:spPr>
          <a:xfrm>
            <a:off x="749808" y="4000500"/>
            <a:ext cx="4907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/>
              <a:t>How early risk prediction supports</a:t>
            </a:r>
            <a:endParaRPr lang="en-US" sz="1800" b="1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0F8774CD-8F32-7BD4-ADDE-37E49CD23D08}"/>
              </a:ext>
            </a:extLst>
          </p:cNvPr>
          <p:cNvSpPr/>
          <p:nvPr/>
        </p:nvSpPr>
        <p:spPr>
          <a:xfrm>
            <a:off x="777240" y="4416552"/>
            <a:ext cx="49071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ICU stay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triage &amp; staffing</a:t>
            </a: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276A36B6-088A-8F96-253C-10026AAB1754}"/>
              </a:ext>
            </a:extLst>
          </p:cNvPr>
          <p:cNvSpPr/>
          <p:nvPr/>
        </p:nvSpPr>
        <p:spPr>
          <a:xfrm>
            <a:off x="6593020" y="1618488"/>
            <a:ext cx="4907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b="1" dirty="0"/>
              <a:t>Global Healthcare Predictive Analytics</a:t>
            </a:r>
            <a:endParaRPr lang="en-US" sz="1800" b="1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D4F27D43-52D3-0CED-CAA7-E73BC9747CBC}"/>
              </a:ext>
            </a:extLst>
          </p:cNvPr>
          <p:cNvSpPr/>
          <p:nvPr/>
        </p:nvSpPr>
        <p:spPr>
          <a:xfrm>
            <a:off x="6370167" y="2039112"/>
            <a:ext cx="49071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C1456AD-19B0-4A82-102D-F8798D23EA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02"/>
          <a:stretch>
            <a:fillRect/>
          </a:stretch>
        </p:blipFill>
        <p:spPr>
          <a:xfrm>
            <a:off x="6370167" y="2091223"/>
            <a:ext cx="5221234" cy="391913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68915C7-7E0F-8FBE-AC16-4DA999C8BBE2}"/>
              </a:ext>
            </a:extLst>
          </p:cNvPr>
          <p:cNvSpPr txBox="1"/>
          <p:nvPr/>
        </p:nvSpPr>
        <p:spPr>
          <a:xfrm>
            <a:off x="10124333" y="5902639"/>
            <a:ext cx="14670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SOURCE: Precedence Research</a:t>
            </a:r>
          </a:p>
        </p:txBody>
      </p:sp>
    </p:spTree>
    <p:extLst>
      <p:ext uri="{BB962C8B-B14F-4D97-AF65-F5344CB8AC3E}">
        <p14:creationId xmlns:p14="http://schemas.microsoft.com/office/powerpoint/2010/main" val="2996500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access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0" y="1097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MIMIC-III: ICU clinical database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43092"/>
            <a:ext cx="5669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53035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De-identified ICU records from a large tertiary care center</a:t>
            </a:r>
          </a:p>
          <a:p>
            <a:pPr marL="0" indent="0">
              <a:lnSpc>
                <a:spcPct val="115000"/>
              </a:lnSpc>
              <a:buNone/>
            </a:pP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Includes vitals, labs, medications, procedures, diagnoses, and outcomes</a:t>
            </a:r>
          </a:p>
          <a:p>
            <a:pPr marL="0" indent="0">
              <a:lnSpc>
                <a:spcPct val="115000"/>
              </a:lnSpc>
              <a:buNone/>
            </a:pP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requires PhysioNet credentialing + data use agreement</a:t>
            </a:r>
          </a:p>
          <a:p>
            <a:pPr marL="0" indent="0">
              <a:lnSpc>
                <a:spcPct val="115000"/>
              </a:lnSpc>
              <a:buNone/>
            </a:pP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Outcomes modeled in this project: in-hospital, 90-day, 180-day mortality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37960" y="1325880"/>
            <a:ext cx="510509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0" y="1426464"/>
            <a:ext cx="4647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task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858000" y="2057400"/>
            <a:ext cx="4465015" cy="640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0880" y="2221992"/>
            <a:ext cx="40992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admission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53348" y="2752344"/>
            <a:ext cx="274320" cy="228600"/>
          </a:xfrm>
          <a:prstGeom prst="downArrow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58000" y="3017520"/>
            <a:ext cx="4465015" cy="640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40880" y="3182112"/>
            <a:ext cx="40992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data collection (First 48h)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53348" y="3712464"/>
            <a:ext cx="274320" cy="228600"/>
          </a:xfrm>
          <a:prstGeom prst="downArrow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0" y="3977640"/>
            <a:ext cx="4465015" cy="6400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40880" y="4142232"/>
            <a:ext cx="40992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aggregation, ML Model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53348" y="4672584"/>
            <a:ext cx="274320" cy="228600"/>
          </a:xfrm>
          <a:prstGeom prst="downArrow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58000" y="4937760"/>
            <a:ext cx="4465015" cy="640080"/>
          </a:xfrm>
          <a:prstGeom prst="roundRect">
            <a:avLst/>
          </a:prstGeom>
          <a:solidFill>
            <a:srgbClr val="E7F7F7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40880" y="5102352"/>
            <a:ext cx="40992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probability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6601968"/>
            <a:ext cx="10362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Quantum-Six • ICU Mortality Prediction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7295" y="6601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0" y="1097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framework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65856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1658569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147568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075688"/>
            <a:ext cx="147568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MIMIC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52929" y="1764792"/>
            <a:ext cx="137160" cy="256032"/>
          </a:xfrm>
          <a:prstGeom prst="rightArrow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35809" y="1417320"/>
            <a:ext cx="165856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35809" y="1417320"/>
            <a:ext cx="1658569" cy="10972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27249" y="1581912"/>
            <a:ext cx="147568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27249" y="2075688"/>
            <a:ext cx="147568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ICU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40098" y="1764792"/>
            <a:ext cx="137160" cy="256032"/>
          </a:xfrm>
          <a:prstGeom prst="rightArrow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22978" y="1417320"/>
            <a:ext cx="165856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22978" y="1417320"/>
            <a:ext cx="1658569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14418" y="1581912"/>
            <a:ext cx="147568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14418" y="2075688"/>
            <a:ext cx="147568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scaling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27268" y="1764792"/>
            <a:ext cx="137160" cy="256032"/>
          </a:xfrm>
          <a:prstGeom prst="rightArrow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0148" y="1417320"/>
            <a:ext cx="165856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0148" y="1417320"/>
            <a:ext cx="1658569" cy="10972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1588" y="1581912"/>
            <a:ext cx="147568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01588" y="2075688"/>
            <a:ext cx="147568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vitals/labs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14437" y="1764792"/>
            <a:ext cx="137160" cy="256032"/>
          </a:xfrm>
          <a:prstGeom prst="rightArrow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97317" y="1417320"/>
            <a:ext cx="165856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097317" y="1417320"/>
            <a:ext cx="1658569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188757" y="1581912"/>
            <a:ext cx="147568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188757" y="2075688"/>
            <a:ext cx="147568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vs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801606" y="1764792"/>
            <a:ext cx="137160" cy="256032"/>
          </a:xfrm>
          <a:prstGeom prst="rightArrow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984486" y="1417320"/>
            <a:ext cx="165856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984486" y="1417320"/>
            <a:ext cx="1658569" cy="10972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075926" y="1581912"/>
            <a:ext cx="147568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075926" y="2075688"/>
            <a:ext cx="147568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017520"/>
            <a:ext cx="11094415" cy="301948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08660" y="3433326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choices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62939" y="3739896"/>
            <a:ext cx="10637215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models per prediction horizon (in-hospital / 90-day / 180-day) to reflect different clinical questions.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preprocessing: missing value handling, normalization, and consistent feature extraction between training and inference.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emphasizes discrimination (ROC-AUC) and clinical usability (risk tiers + explanations).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48640" y="6601968"/>
            <a:ext cx="10362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Quantum-Six • ICU Mortality Prediction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277295" y="6601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FA0DE-A84E-7E77-D530-2C398A0A7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51BBDB2-3AE9-FE19-5EF3-BC605DC2B010}"/>
              </a:ext>
            </a:extLst>
          </p:cNvPr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3AE5207-C4E4-C40C-6940-B9D2AACE2874}"/>
              </a:ext>
            </a:extLst>
          </p:cNvPr>
          <p:cNvSpPr/>
          <p:nvPr/>
        </p:nvSpPr>
        <p:spPr>
          <a:xfrm>
            <a:off x="54864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 and Training Pipeline 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81DE4A-7F04-0690-F96A-FD0E4703C002}"/>
              </a:ext>
            </a:extLst>
          </p:cNvPr>
          <p:cNvSpPr/>
          <p:nvPr/>
        </p:nvSpPr>
        <p:spPr>
          <a:xfrm>
            <a:off x="4389120" y="1097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3AF4EEC-BDC9-6BEA-AF43-506FFCDD17E8}"/>
              </a:ext>
            </a:extLst>
          </p:cNvPr>
          <p:cNvSpPr/>
          <p:nvPr/>
        </p:nvSpPr>
        <p:spPr>
          <a:xfrm>
            <a:off x="548640" y="71323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39506B8-CC0A-AE66-7E13-84BB933CB11F}"/>
              </a:ext>
            </a:extLst>
          </p:cNvPr>
          <p:cNvSpPr/>
          <p:nvPr/>
        </p:nvSpPr>
        <p:spPr>
          <a:xfrm>
            <a:off x="548640" y="804673"/>
            <a:ext cx="5715000" cy="439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802483D-8E0D-10CA-69DB-3B3132BEED53}"/>
              </a:ext>
            </a:extLst>
          </p:cNvPr>
          <p:cNvSpPr/>
          <p:nvPr/>
        </p:nvSpPr>
        <p:spPr>
          <a:xfrm>
            <a:off x="914400" y="91440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Strategy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A6D1201-B056-D1D0-5B51-11B0C5DC62C6}"/>
              </a:ext>
            </a:extLst>
          </p:cNvPr>
          <p:cNvSpPr/>
          <p:nvPr/>
        </p:nvSpPr>
        <p:spPr>
          <a:xfrm>
            <a:off x="713232" y="1384480"/>
            <a:ext cx="544068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  <a:buSzPct val="100000"/>
            </a:pP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/>
              <a:t>Stratified Train/Validation Split (80/20)</a:t>
            </a: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/>
              <a:t>Median Imputation for Missing Values</a:t>
            </a: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/>
              <a:t>Class Imbalance handled using </a:t>
            </a:r>
            <a:r>
              <a:rPr lang="en-US" sz="2000" dirty="0" err="1"/>
              <a:t>class_weight</a:t>
            </a:r>
            <a:endParaRPr lang="en-US" sz="20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/>
              <a:t>Probability-based Risk Prediction</a:t>
            </a: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2000" dirty="0"/>
              <a:t>Evaluation: AUROC, Precision-Recall, Confusion Matrix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39A881E-399D-24D5-6D97-654D2BC5807B}"/>
              </a:ext>
            </a:extLst>
          </p:cNvPr>
          <p:cNvSpPr/>
          <p:nvPr/>
        </p:nvSpPr>
        <p:spPr>
          <a:xfrm>
            <a:off x="6446520" y="804672"/>
            <a:ext cx="5196535" cy="4396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1047463-4BC6-E91C-90FB-A42BF2F2454B}"/>
              </a:ext>
            </a:extLst>
          </p:cNvPr>
          <p:cNvSpPr/>
          <p:nvPr/>
        </p:nvSpPr>
        <p:spPr>
          <a:xfrm>
            <a:off x="6903720" y="919304"/>
            <a:ext cx="4922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5833F88-64E4-7798-CD2E-897B58FCA1D0}"/>
              </a:ext>
            </a:extLst>
          </p:cNvPr>
          <p:cNvSpPr/>
          <p:nvPr/>
        </p:nvSpPr>
        <p:spPr>
          <a:xfrm>
            <a:off x="6812280" y="1410078"/>
            <a:ext cx="492221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endParaRPr lang="en-US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BD0BF77-217B-B48C-78AB-D46F507FDCEC}"/>
              </a:ext>
            </a:extLst>
          </p:cNvPr>
          <p:cNvSpPr/>
          <p:nvPr/>
        </p:nvSpPr>
        <p:spPr>
          <a:xfrm>
            <a:off x="6988306" y="4306012"/>
            <a:ext cx="437242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/>
              <a:t>CSV Data → Stratified Split → Imputation → Model Training → Probability Output → Threshold Selection → Performance Evaluation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F551696-5BA5-4114-7D68-8111CABEFBF9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EE8820A-B680-5483-55A8-8F76BDA49596}"/>
              </a:ext>
            </a:extLst>
          </p:cNvPr>
          <p:cNvSpPr/>
          <p:nvPr/>
        </p:nvSpPr>
        <p:spPr>
          <a:xfrm>
            <a:off x="548640" y="6601968"/>
            <a:ext cx="10362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Quantum-Six • ICU Mortality Prediction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147EBFE-07B2-3DC2-4EB3-814AD2B0D2FA}"/>
              </a:ext>
            </a:extLst>
          </p:cNvPr>
          <p:cNvSpPr/>
          <p:nvPr/>
        </p:nvSpPr>
        <p:spPr>
          <a:xfrm>
            <a:off x="11277295" y="6601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8FAF108-9E93-461F-ED6E-010D28271F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80" t="19264" r="4931" b="20806"/>
          <a:stretch>
            <a:fillRect/>
          </a:stretch>
        </p:blipFill>
        <p:spPr>
          <a:xfrm>
            <a:off x="6556553" y="1167988"/>
            <a:ext cx="4922215" cy="2720663"/>
          </a:xfrm>
          <a:prstGeom prst="rect">
            <a:avLst/>
          </a:prstGeom>
        </p:spPr>
      </p:pic>
      <p:sp>
        <p:nvSpPr>
          <p:cNvPr id="7" name="Shape 5">
            <a:extLst>
              <a:ext uri="{FF2B5EF4-FFF2-40B4-BE49-F238E27FC236}">
                <a16:creationId xmlns:a16="http://schemas.microsoft.com/office/drawing/2014/main" id="{9A50983E-64B1-56AA-835A-113816462F6F}"/>
              </a:ext>
            </a:extLst>
          </p:cNvPr>
          <p:cNvSpPr/>
          <p:nvPr/>
        </p:nvSpPr>
        <p:spPr>
          <a:xfrm>
            <a:off x="914400" y="1244222"/>
            <a:ext cx="2782529" cy="5422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021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FA895-0C49-C7A3-5318-17F48745C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FBFBD20-A74B-9A28-8930-7A6A31C73204}"/>
              </a:ext>
            </a:extLst>
          </p:cNvPr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Feature Extraction </a:t>
            </a:r>
            <a:r>
              <a:rPr lang="en-US" sz="1400" dirty="0"/>
              <a:t> 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6066D7-26D1-2E27-1311-81E566C1253E}"/>
              </a:ext>
            </a:extLst>
          </p:cNvPr>
          <p:cNvSpPr/>
          <p:nvPr/>
        </p:nvSpPr>
        <p:spPr>
          <a:xfrm>
            <a:off x="54864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BB1E388-2111-B21F-42FB-515969447973}"/>
              </a:ext>
            </a:extLst>
          </p:cNvPr>
          <p:cNvSpPr/>
          <p:nvPr/>
        </p:nvSpPr>
        <p:spPr>
          <a:xfrm>
            <a:off x="4389120" y="1097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0242A16-A89E-8D1A-71AC-1B2EF956ECA2}"/>
              </a:ext>
            </a:extLst>
          </p:cNvPr>
          <p:cNvSpPr/>
          <p:nvPr/>
        </p:nvSpPr>
        <p:spPr>
          <a:xfrm>
            <a:off x="548640" y="71323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coefficient value with target variable</a:t>
            </a: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41C9533-A2A2-4D2D-80E1-6F7885072EB4}"/>
              </a:ext>
            </a:extLst>
          </p:cNvPr>
          <p:cNvSpPr/>
          <p:nvPr/>
        </p:nvSpPr>
        <p:spPr>
          <a:xfrm>
            <a:off x="960120" y="431596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C848EE7-20EA-9331-4AE4-90C79C827A08}"/>
              </a:ext>
            </a:extLst>
          </p:cNvPr>
          <p:cNvSpPr/>
          <p:nvPr/>
        </p:nvSpPr>
        <p:spPr>
          <a:xfrm>
            <a:off x="960120" y="4636008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2C5159E-D99C-1606-E053-A94899877796}"/>
              </a:ext>
            </a:extLst>
          </p:cNvPr>
          <p:cNvSpPr/>
          <p:nvPr/>
        </p:nvSpPr>
        <p:spPr>
          <a:xfrm>
            <a:off x="6446520" y="1325880"/>
            <a:ext cx="5196535" cy="4636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5282AF20-0C7F-4413-3543-A36A0EA0E2D4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48E9377C-A41E-4B3E-27F8-6AAFF1D8ADCE}"/>
              </a:ext>
            </a:extLst>
          </p:cNvPr>
          <p:cNvSpPr/>
          <p:nvPr/>
        </p:nvSpPr>
        <p:spPr>
          <a:xfrm>
            <a:off x="548640" y="6601968"/>
            <a:ext cx="10362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Quantum-Six • ICU Mortality Prediction</a:t>
            </a:r>
            <a:endParaRPr lang="en-US" sz="10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4223E43E-B6E8-D005-6F68-739A3248138D}"/>
              </a:ext>
            </a:extLst>
          </p:cNvPr>
          <p:cNvSpPr/>
          <p:nvPr/>
        </p:nvSpPr>
        <p:spPr>
          <a:xfrm>
            <a:off x="11277295" y="6601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43E2C9-F24C-EF12-D1D3-62B44A80EF2F}"/>
              </a:ext>
            </a:extLst>
          </p:cNvPr>
          <p:cNvSpPr txBox="1"/>
          <p:nvPr/>
        </p:nvSpPr>
        <p:spPr>
          <a:xfrm>
            <a:off x="548640" y="1543752"/>
            <a:ext cx="4552749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Top Positive Correlations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Lactate_mean</a:t>
            </a:r>
            <a:r>
              <a:rPr lang="en-US" dirty="0"/>
              <a:t>  and </a:t>
            </a:r>
            <a:r>
              <a:rPr lang="en-US" dirty="0" err="1"/>
              <a:t>AG_mean</a:t>
            </a:r>
            <a:r>
              <a:rPr lang="en-US" dirty="0"/>
              <a:t> have the highest positive correlations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Negative Correlations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GCS_mean</a:t>
            </a:r>
            <a:r>
              <a:rPr lang="en-US" dirty="0"/>
              <a:t> and </a:t>
            </a:r>
            <a:r>
              <a:rPr lang="en-US" dirty="0" err="1"/>
              <a:t>GCS_max</a:t>
            </a:r>
            <a:r>
              <a:rPr lang="en-US" dirty="0"/>
              <a:t> exhibit negative correlations; higher GCS scores (neurological status) are associated with lower mortality risk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Lactate</a:t>
            </a:r>
            <a:r>
              <a:rPr lang="en-US" sz="2000" dirty="0"/>
              <a:t> and </a:t>
            </a:r>
            <a:r>
              <a:rPr lang="en-US" sz="2000" b="1" dirty="0"/>
              <a:t>Anion Gap (AG)</a:t>
            </a:r>
            <a:r>
              <a:rPr lang="en-US" sz="2000" dirty="0"/>
              <a:t> are the most significant positive predictors of hospital mortality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E3B9990-598A-CB97-EBA6-746051722799}"/>
              </a:ext>
            </a:extLst>
          </p:cNvPr>
          <p:cNvCxnSpPr>
            <a:cxnSpLocks/>
          </p:cNvCxnSpPr>
          <p:nvPr/>
        </p:nvCxnSpPr>
        <p:spPr>
          <a:xfrm>
            <a:off x="6265182" y="1543752"/>
            <a:ext cx="0" cy="450500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C5A5AAD-9C25-3716-CF0E-F92B79898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636" y="1325879"/>
            <a:ext cx="6643729" cy="513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124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600DB-F5DB-DE42-FAAF-3525AD0DF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BA36F4-3D84-2D9D-2513-A6F82C8684DD}"/>
              </a:ext>
            </a:extLst>
          </p:cNvPr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r>
              <a:rPr lang="en-US" sz="1400" dirty="0">
                <a:solidFill>
                  <a:schemeClr val="bg1"/>
                </a:solidFill>
              </a:rPr>
              <a:t>Feature Extraction </a:t>
            </a:r>
            <a:r>
              <a:rPr lang="en-US" sz="1400" dirty="0"/>
              <a:t> 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D4E512C-9E8E-4BC6-5BBB-1054DB2B61B0}"/>
              </a:ext>
            </a:extLst>
          </p:cNvPr>
          <p:cNvSpPr/>
          <p:nvPr/>
        </p:nvSpPr>
        <p:spPr>
          <a:xfrm>
            <a:off x="54864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9BC9A58-8957-6048-CF39-21F218443024}"/>
              </a:ext>
            </a:extLst>
          </p:cNvPr>
          <p:cNvSpPr/>
          <p:nvPr/>
        </p:nvSpPr>
        <p:spPr>
          <a:xfrm>
            <a:off x="4389120" y="1097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C5777C8-E66B-BFE6-AC73-65FDDAB0E557}"/>
              </a:ext>
            </a:extLst>
          </p:cNvPr>
          <p:cNvSpPr/>
          <p:nvPr/>
        </p:nvSpPr>
        <p:spPr>
          <a:xfrm>
            <a:off x="548640" y="71323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Influencing In-Hospital Mortality Prediction</a:t>
            </a: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70971DD-D48E-8372-1118-AC43684F8310}"/>
              </a:ext>
            </a:extLst>
          </p:cNvPr>
          <p:cNvSpPr/>
          <p:nvPr/>
        </p:nvSpPr>
        <p:spPr>
          <a:xfrm>
            <a:off x="548640" y="1325880"/>
            <a:ext cx="571500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6B78778-CFB5-F57E-3F05-8D50730722FD}"/>
              </a:ext>
            </a:extLst>
          </p:cNvPr>
          <p:cNvSpPr/>
          <p:nvPr/>
        </p:nvSpPr>
        <p:spPr>
          <a:xfrm>
            <a:off x="777240" y="1508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DB579C5-6B0E-23DC-D3D3-8A65C69E7DE3}"/>
              </a:ext>
            </a:extLst>
          </p:cNvPr>
          <p:cNvSpPr/>
          <p:nvPr/>
        </p:nvSpPr>
        <p:spPr>
          <a:xfrm>
            <a:off x="777240" y="192024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24271A9-8C7F-F99F-668D-C8857490CC09}"/>
              </a:ext>
            </a:extLst>
          </p:cNvPr>
          <p:cNvSpPr/>
          <p:nvPr/>
        </p:nvSpPr>
        <p:spPr>
          <a:xfrm>
            <a:off x="777240" y="1508760"/>
            <a:ext cx="5257800" cy="4297680"/>
          </a:xfrm>
          <a:prstGeom prst="roundRect">
            <a:avLst/>
          </a:prstGeom>
          <a:solidFill>
            <a:srgbClr val="E7F7F7"/>
          </a:solidFill>
          <a:ln w="12700">
            <a:solidFill>
              <a:srgbClr val="CDEC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1C4E3F5-13BC-B87B-02E4-61B2513E05D2}"/>
              </a:ext>
            </a:extLst>
          </p:cNvPr>
          <p:cNvSpPr/>
          <p:nvPr/>
        </p:nvSpPr>
        <p:spPr>
          <a:xfrm>
            <a:off x="960120" y="2043037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for In-Hospital Mortality Prediction</a:t>
            </a:r>
            <a:endParaRPr lang="en-US" sz="2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AB2A4FD-D773-57EF-6776-A9AFA079FEEC}"/>
              </a:ext>
            </a:extLst>
          </p:cNvPr>
          <p:cNvSpPr/>
          <p:nvPr/>
        </p:nvSpPr>
        <p:spPr>
          <a:xfrm>
            <a:off x="960120" y="2731008"/>
            <a:ext cx="4892040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Lactate levels, Anion Gap (AG), and BUN (Blood Urea Nitrogen) are the strongest indicators</a:t>
            </a:r>
          </a:p>
          <a:p>
            <a:pPr marL="0" indent="0">
              <a:buNone/>
            </a:pPr>
            <a:endParaRPr lang="en-US" sz="2000" dirty="0">
              <a:solidFill>
                <a:srgbClr val="3A465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dirty="0"/>
              <a:t>Physiological variables like lactate and AG, along with neurological assessments (GCS), are critical for mortality risk prediction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E3EEBB4-059C-B987-1314-C8518ED72E53}"/>
              </a:ext>
            </a:extLst>
          </p:cNvPr>
          <p:cNvSpPr/>
          <p:nvPr/>
        </p:nvSpPr>
        <p:spPr>
          <a:xfrm>
            <a:off x="7813137" y="1482381"/>
            <a:ext cx="3579128" cy="24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Feature relevance (example: in-hospital)</a:t>
            </a:r>
            <a:endParaRPr lang="en-US" sz="120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4D8A632B-6CA2-B31B-A39C-C8DFF165AA69}"/>
              </a:ext>
            </a:extLst>
          </p:cNvPr>
          <p:cNvSpPr/>
          <p:nvPr/>
        </p:nvSpPr>
        <p:spPr>
          <a:xfrm>
            <a:off x="305" y="6300216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E94C7155-1A3E-B539-4B8D-7B36805ACE9F}"/>
              </a:ext>
            </a:extLst>
          </p:cNvPr>
          <p:cNvSpPr/>
          <p:nvPr/>
        </p:nvSpPr>
        <p:spPr>
          <a:xfrm>
            <a:off x="548640" y="6601968"/>
            <a:ext cx="10362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Quantum-Six • ICU Mortality Prediction</a:t>
            </a:r>
            <a:endParaRPr lang="en-US" sz="10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C8E29DAB-5491-6F8B-B4B5-1DAD80E5ED9E}"/>
              </a:ext>
            </a:extLst>
          </p:cNvPr>
          <p:cNvSpPr/>
          <p:nvPr/>
        </p:nvSpPr>
        <p:spPr>
          <a:xfrm>
            <a:off x="11277295" y="6601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B76AB2E-3783-BB61-4796-13B90CE72E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97" b="4973"/>
          <a:stretch>
            <a:fillRect/>
          </a:stretch>
        </p:blipFill>
        <p:spPr>
          <a:xfrm>
            <a:off x="6285830" y="1730205"/>
            <a:ext cx="5174345" cy="426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32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predictors and Clinical insight</a:t>
            </a:r>
            <a:endParaRPr lang="en-US" sz="1200" b="1" dirty="0"/>
          </a:p>
        </p:txBody>
      </p:sp>
      <p:sp>
        <p:nvSpPr>
          <p:cNvPr id="4" name="Text 2"/>
          <p:cNvSpPr/>
          <p:nvPr/>
        </p:nvSpPr>
        <p:spPr>
          <a:xfrm>
            <a:off x="4389120" y="1097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learned (aligned with ICU physiology)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7947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73152" cy="452628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5361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 instability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1901952"/>
            <a:ext cx="3520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Lactate and anion gap are among the strongest risk signals.</a:t>
            </a:r>
          </a:p>
          <a:p>
            <a:pPr>
              <a:lnSpc>
                <a:spcPct val="115000"/>
              </a:lnSpc>
              <a:buSzPct val="100000"/>
            </a:pP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hypoperfusion, shock, or severe metabolic derangements.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37947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73152" cy="4526280"/>
          </a:xfrm>
          <a:prstGeom prst="rect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36592" y="15361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Multi-organ dysfunction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36592" y="1901952"/>
            <a:ext cx="3520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markers: BUN (urea), creatinine-related features.</a:t>
            </a:r>
          </a:p>
          <a:p>
            <a:pPr>
              <a:lnSpc>
                <a:spcPct val="115000"/>
              </a:lnSpc>
              <a:buSzPct val="100000"/>
            </a:pP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markers: bilirubin and liver-related enzymes.</a:t>
            </a:r>
          </a:p>
          <a:p>
            <a:pPr>
              <a:lnSpc>
                <a:spcPct val="115000"/>
              </a:lnSpc>
              <a:buSzPct val="100000"/>
            </a:pP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organ systems beyond basic vital signs.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595360" y="1371600"/>
            <a:ext cx="3047695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95360" y="1371600"/>
            <a:ext cx="73152" cy="452628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759952" y="1536192"/>
            <a:ext cx="27733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Neurological status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759952" y="1901952"/>
            <a:ext cx="2773375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features show a strong negative association with mortality.</a:t>
            </a:r>
          </a:p>
          <a:p>
            <a:pPr>
              <a:lnSpc>
                <a:spcPct val="115000"/>
              </a:lnSpc>
              <a:buSzPct val="100000"/>
            </a:pP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consciousness levels correspond to higher risk, consistent with clinical practice</a:t>
            </a:r>
            <a:r>
              <a:rPr lang="en-US" sz="14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6601968"/>
            <a:ext cx="10362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Quantum-Six • ICU Mortality Prediction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7295" y="6601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89AB8-E3D1-2279-D78F-8E48B84F0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5BFFCAB-4D08-58E3-9211-2F4882B1102E}"/>
              </a:ext>
            </a:extLst>
          </p:cNvPr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9708D9-9FFA-609E-292B-FEA364539355}"/>
              </a:ext>
            </a:extLst>
          </p:cNvPr>
          <p:cNvSpPr/>
          <p:nvPr/>
        </p:nvSpPr>
        <p:spPr>
          <a:xfrm>
            <a:off x="54864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65725C4-9F3C-6527-CDAE-A9A33DC28554}"/>
              </a:ext>
            </a:extLst>
          </p:cNvPr>
          <p:cNvSpPr/>
          <p:nvPr/>
        </p:nvSpPr>
        <p:spPr>
          <a:xfrm>
            <a:off x="4389120" y="1097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E29CC50-AB1F-D0E5-2488-C6B980FE5417}"/>
              </a:ext>
            </a:extLst>
          </p:cNvPr>
          <p:cNvSpPr/>
          <p:nvPr/>
        </p:nvSpPr>
        <p:spPr>
          <a:xfrm>
            <a:off x="548640" y="71323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In-hospital mortality: discrimination performance</a:t>
            </a:r>
            <a:endParaRPr lang="en-US" sz="30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E093CFA2-371A-5EBD-C7DF-8BEB134F9DBB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41F0AF38-08C2-3979-7D87-E3D7632A197D}"/>
              </a:ext>
            </a:extLst>
          </p:cNvPr>
          <p:cNvSpPr/>
          <p:nvPr/>
        </p:nvSpPr>
        <p:spPr>
          <a:xfrm>
            <a:off x="548640" y="6601968"/>
            <a:ext cx="10362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Quantum-Six • ICU Mortality Prediction</a:t>
            </a:r>
            <a:endParaRPr lang="en-US" sz="10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65235ED1-4C91-9998-A471-0293056141C0}"/>
              </a:ext>
            </a:extLst>
          </p:cNvPr>
          <p:cNvSpPr/>
          <p:nvPr/>
        </p:nvSpPr>
        <p:spPr>
          <a:xfrm>
            <a:off x="11277295" y="6601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6" name="AutoShape 2" descr="Output image">
            <a:extLst>
              <a:ext uri="{FF2B5EF4-FFF2-40B4-BE49-F238E27FC236}">
                <a16:creationId xmlns:a16="http://schemas.microsoft.com/office/drawing/2014/main" id="{0CD83569-0A24-8121-96FD-6F95CA818C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AutoShape 6" descr="Output image">
            <a:extLst>
              <a:ext uri="{FF2B5EF4-FFF2-40B4-BE49-F238E27FC236}">
                <a16:creationId xmlns:a16="http://schemas.microsoft.com/office/drawing/2014/main" id="{0FBE3850-56F0-001B-71E8-775B5FA5C1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158FD3B-52BF-94FC-6D77-0FEA3C679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6079372" cy="47730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6C1251-8BD5-C05B-B4BD-0D756577E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5871" y="2034204"/>
            <a:ext cx="4625953" cy="2789592"/>
          </a:xfrm>
          <a:prstGeom prst="rect">
            <a:avLst/>
          </a:prstGeo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499F932F-0581-DD43-9839-8A9AFC0DFC27}"/>
              </a:ext>
            </a:extLst>
          </p:cNvPr>
          <p:cNvSpPr/>
          <p:nvPr/>
        </p:nvSpPr>
        <p:spPr>
          <a:xfrm>
            <a:off x="6828504" y="3251970"/>
            <a:ext cx="393290" cy="602226"/>
          </a:xfrm>
          <a:prstGeom prst="lef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65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2C0F6-9181-EC7C-6DC9-FEDBC533F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ADC56D-DD07-5249-65E9-B9505B09439B}"/>
              </a:ext>
            </a:extLst>
          </p:cNvPr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34F28B-030E-F21D-3D1E-CBF68E3FAAF2}"/>
              </a:ext>
            </a:extLst>
          </p:cNvPr>
          <p:cNvSpPr/>
          <p:nvPr/>
        </p:nvSpPr>
        <p:spPr>
          <a:xfrm>
            <a:off x="54864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 and Training Pipeline 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D21D044-5A95-F938-D915-BDE1EAD2E081}"/>
              </a:ext>
            </a:extLst>
          </p:cNvPr>
          <p:cNvSpPr/>
          <p:nvPr/>
        </p:nvSpPr>
        <p:spPr>
          <a:xfrm>
            <a:off x="4389120" y="1097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57DAD19-2546-A463-A4B5-6ECD7E1A21EA}"/>
              </a:ext>
            </a:extLst>
          </p:cNvPr>
          <p:cNvSpPr/>
          <p:nvPr/>
        </p:nvSpPr>
        <p:spPr>
          <a:xfrm>
            <a:off x="548640" y="71323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EFE7710-39D9-70A5-78BC-73D9792AED69}"/>
              </a:ext>
            </a:extLst>
          </p:cNvPr>
          <p:cNvSpPr/>
          <p:nvPr/>
        </p:nvSpPr>
        <p:spPr>
          <a:xfrm>
            <a:off x="685800" y="914515"/>
            <a:ext cx="5715000" cy="46432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r>
              <a:rPr lang="en-US" sz="2000" dirty="0"/>
              <a:t>Confusion Matrix Summary (</a:t>
            </a:r>
            <a:r>
              <a:rPr lang="en-US" sz="2000" dirty="0" err="1"/>
              <a:t>XGBoost</a:t>
            </a:r>
            <a:r>
              <a:rPr lang="en-US" sz="2000" dirty="0"/>
              <a:t>)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True Negatives (TN): 2201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False Positives (FP): 1489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False Negatives (FN): 56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True Positives (TP): 504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5C0A9FF-6DCB-8D37-F700-72D92FCC5C54}"/>
              </a:ext>
            </a:extLst>
          </p:cNvPr>
          <p:cNvSpPr/>
          <p:nvPr/>
        </p:nvSpPr>
        <p:spPr>
          <a:xfrm>
            <a:off x="914400" y="91440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8E8D859-2E7C-9D83-2658-DC758F37929C}"/>
              </a:ext>
            </a:extLst>
          </p:cNvPr>
          <p:cNvSpPr/>
          <p:nvPr/>
        </p:nvSpPr>
        <p:spPr>
          <a:xfrm>
            <a:off x="713232" y="1384480"/>
            <a:ext cx="544068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endParaRPr lang="en-US" sz="2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733ABF5-E840-0397-58C3-45CFA2BF8606}"/>
              </a:ext>
            </a:extLst>
          </p:cNvPr>
          <p:cNvSpPr/>
          <p:nvPr/>
        </p:nvSpPr>
        <p:spPr>
          <a:xfrm>
            <a:off x="6446520" y="804671"/>
            <a:ext cx="5196535" cy="464325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2C3F1F8-C916-A829-C5A2-AD2F4D37BECE}"/>
              </a:ext>
            </a:extLst>
          </p:cNvPr>
          <p:cNvSpPr/>
          <p:nvPr/>
        </p:nvSpPr>
        <p:spPr>
          <a:xfrm>
            <a:off x="7377447" y="1062775"/>
            <a:ext cx="3833106" cy="2843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Confusion Matrix (Tuned Threshold)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BBDBC23-7C16-1738-ED2F-60C1BBA1CA87}"/>
              </a:ext>
            </a:extLst>
          </p:cNvPr>
          <p:cNvSpPr/>
          <p:nvPr/>
        </p:nvSpPr>
        <p:spPr>
          <a:xfrm>
            <a:off x="6812280" y="1410078"/>
            <a:ext cx="492221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endParaRPr lang="en-US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9B0E023-0FAA-2360-1A00-00ED422D968B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8B85C06-13C6-431D-4863-04F02BB982C3}"/>
              </a:ext>
            </a:extLst>
          </p:cNvPr>
          <p:cNvSpPr/>
          <p:nvPr/>
        </p:nvSpPr>
        <p:spPr>
          <a:xfrm>
            <a:off x="548640" y="6601968"/>
            <a:ext cx="10362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Quantum-Six • ICU Mortality Prediction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97D6B29-B040-30B0-D97B-80AC63C53A76}"/>
              </a:ext>
            </a:extLst>
          </p:cNvPr>
          <p:cNvSpPr/>
          <p:nvPr/>
        </p:nvSpPr>
        <p:spPr>
          <a:xfrm>
            <a:off x="11277295" y="6601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98EF403-19CE-A0CD-08F8-297D9DFEC5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55"/>
          <a:stretch>
            <a:fillRect/>
          </a:stretch>
        </p:blipFill>
        <p:spPr>
          <a:xfrm>
            <a:off x="6629400" y="1514366"/>
            <a:ext cx="4398273" cy="3933556"/>
          </a:xfrm>
          <a:prstGeom prst="rect">
            <a:avLst/>
          </a:prstGeom>
        </p:spPr>
      </p:pic>
      <p:sp>
        <p:nvSpPr>
          <p:cNvPr id="19" name="Shape 5">
            <a:extLst>
              <a:ext uri="{FF2B5EF4-FFF2-40B4-BE49-F238E27FC236}">
                <a16:creationId xmlns:a16="http://schemas.microsoft.com/office/drawing/2014/main" id="{2EC376E3-0A01-3233-244B-BDD1CEEAA536}"/>
              </a:ext>
            </a:extLst>
          </p:cNvPr>
          <p:cNvSpPr/>
          <p:nvPr/>
        </p:nvSpPr>
        <p:spPr>
          <a:xfrm>
            <a:off x="1004469" y="1589641"/>
            <a:ext cx="3515258" cy="45719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533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E157C-5CC9-8FED-B0AD-41EF71FCB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43BA4D-B3C3-95FA-C59E-A2904207F9C2}"/>
              </a:ext>
            </a:extLst>
          </p:cNvPr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A3BB029-0FD0-E275-7B7F-D25629957CD6}"/>
              </a:ext>
            </a:extLst>
          </p:cNvPr>
          <p:cNvSpPr/>
          <p:nvPr/>
        </p:nvSpPr>
        <p:spPr>
          <a:xfrm>
            <a:off x="54864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 and Training Pipeline 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5458B34-C860-1D25-6694-0F5431FF602D}"/>
              </a:ext>
            </a:extLst>
          </p:cNvPr>
          <p:cNvSpPr/>
          <p:nvPr/>
        </p:nvSpPr>
        <p:spPr>
          <a:xfrm>
            <a:off x="4389120" y="1097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FA13888-1210-4200-08DB-530AE2785F7E}"/>
              </a:ext>
            </a:extLst>
          </p:cNvPr>
          <p:cNvSpPr/>
          <p:nvPr/>
        </p:nvSpPr>
        <p:spPr>
          <a:xfrm>
            <a:off x="548640" y="71323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B6C346B-EC34-B4BF-0A96-9FD2C141C5AA}"/>
              </a:ext>
            </a:extLst>
          </p:cNvPr>
          <p:cNvSpPr/>
          <p:nvPr/>
        </p:nvSpPr>
        <p:spPr>
          <a:xfrm>
            <a:off x="548640" y="804672"/>
            <a:ext cx="5715000" cy="54981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D0706C8-9F58-BED4-04DE-5C8488B93F50}"/>
              </a:ext>
            </a:extLst>
          </p:cNvPr>
          <p:cNvSpPr/>
          <p:nvPr/>
        </p:nvSpPr>
        <p:spPr>
          <a:xfrm>
            <a:off x="914400" y="91440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(</a:t>
            </a:r>
            <a:r>
              <a:rPr lang="en-US" b="1" dirty="0" err="1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55A0537-EA30-FBC3-C13D-4EAF20636106}"/>
              </a:ext>
            </a:extLst>
          </p:cNvPr>
          <p:cNvSpPr/>
          <p:nvPr/>
        </p:nvSpPr>
        <p:spPr>
          <a:xfrm>
            <a:off x="713232" y="1325880"/>
            <a:ext cx="5440680" cy="1100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endParaRPr lang="en-US" sz="2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endParaRPr lang="en-US" sz="2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endParaRPr lang="en-US" sz="2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endParaRPr lang="en-US" sz="2400" dirty="0"/>
          </a:p>
          <a:p>
            <a:pPr>
              <a:lnSpc>
                <a:spcPct val="115000"/>
              </a:lnSpc>
              <a:buSzPct val="100000"/>
            </a:pPr>
            <a:endParaRPr lang="en-US" sz="2400" dirty="0"/>
          </a:p>
          <a:p>
            <a:pPr>
              <a:lnSpc>
                <a:spcPct val="115000"/>
              </a:lnSpc>
              <a:buSzPct val="100000"/>
            </a:pPr>
            <a:endParaRPr lang="en-US" sz="2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endParaRPr lang="en-US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/>
              <a:t>Recall (Mortality): 0.9</a:t>
            </a: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/>
              <a:t>Precision (Mortality): 0.2529</a:t>
            </a: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/>
              <a:t>F1-score: 0.3948</a:t>
            </a:r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dirty="0"/>
              <a:t>Accuracy: 0.6365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98FDFAD-4D28-C2D2-6957-B04BE30C561F}"/>
              </a:ext>
            </a:extLst>
          </p:cNvPr>
          <p:cNvSpPr/>
          <p:nvPr/>
        </p:nvSpPr>
        <p:spPr>
          <a:xfrm>
            <a:off x="6446520" y="804671"/>
            <a:ext cx="5196535" cy="549815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54C8B6C-161D-C950-235F-EF431A5A1CEF}"/>
              </a:ext>
            </a:extLst>
          </p:cNvPr>
          <p:cNvSpPr/>
          <p:nvPr/>
        </p:nvSpPr>
        <p:spPr>
          <a:xfrm>
            <a:off x="6903720" y="919304"/>
            <a:ext cx="4922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FE1164B-50FE-C62B-E6A8-3ACB1E8DB7CB}"/>
              </a:ext>
            </a:extLst>
          </p:cNvPr>
          <p:cNvSpPr/>
          <p:nvPr/>
        </p:nvSpPr>
        <p:spPr>
          <a:xfrm>
            <a:off x="6812280" y="1410078"/>
            <a:ext cx="492221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endParaRPr lang="en-US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40129DF-63B7-4380-0828-4EECECB64D10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A70B461-E57C-E1B8-7201-8241AB0CD2E9}"/>
              </a:ext>
            </a:extLst>
          </p:cNvPr>
          <p:cNvSpPr/>
          <p:nvPr/>
        </p:nvSpPr>
        <p:spPr>
          <a:xfrm>
            <a:off x="548640" y="6601968"/>
            <a:ext cx="10362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Quantum-Six • ICU Mortality Prediction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47E11A8-159E-083B-C8EF-850256266810}"/>
              </a:ext>
            </a:extLst>
          </p:cNvPr>
          <p:cNvSpPr/>
          <p:nvPr/>
        </p:nvSpPr>
        <p:spPr>
          <a:xfrm>
            <a:off x="11277295" y="6601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682776-5632-867E-35B0-F91155A22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170432"/>
            <a:ext cx="5184658" cy="4568854"/>
          </a:xfrm>
          <a:prstGeom prst="rect">
            <a:avLst/>
          </a:prstGeom>
        </p:spPr>
      </p:pic>
      <p:sp>
        <p:nvSpPr>
          <p:cNvPr id="14" name="AutoShape 2" descr="Uploaded image">
            <a:extLst>
              <a:ext uri="{FF2B5EF4-FFF2-40B4-BE49-F238E27FC236}">
                <a16:creationId xmlns:a16="http://schemas.microsoft.com/office/drawing/2014/main" id="{ED4376C2-D25C-38F6-D707-4380E412AD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687BBA4-6C87-A2C8-8E91-1ECC32C3A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10" y="1670342"/>
            <a:ext cx="4084330" cy="1829942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330048F-FB23-76C8-B785-00E25E7695D9}"/>
              </a:ext>
            </a:extLst>
          </p:cNvPr>
          <p:cNvCxnSpPr>
            <a:cxnSpLocks/>
          </p:cNvCxnSpPr>
          <p:nvPr/>
        </p:nvCxnSpPr>
        <p:spPr>
          <a:xfrm>
            <a:off x="1632155" y="3726426"/>
            <a:ext cx="169114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Shape 5">
            <a:extLst>
              <a:ext uri="{FF2B5EF4-FFF2-40B4-BE49-F238E27FC236}">
                <a16:creationId xmlns:a16="http://schemas.microsoft.com/office/drawing/2014/main" id="{3EB33D3F-94E3-CC26-2FB6-ACDB77C45A47}"/>
              </a:ext>
            </a:extLst>
          </p:cNvPr>
          <p:cNvSpPr/>
          <p:nvPr/>
        </p:nvSpPr>
        <p:spPr>
          <a:xfrm>
            <a:off x="963321" y="1324651"/>
            <a:ext cx="3515258" cy="45719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11B0F1-548C-9215-44D6-05BC91A91AF9}"/>
              </a:ext>
            </a:extLst>
          </p:cNvPr>
          <p:cNvSpPr txBox="1"/>
          <p:nvPr/>
        </p:nvSpPr>
        <p:spPr>
          <a:xfrm>
            <a:off x="7606727" y="5573343"/>
            <a:ext cx="85884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Survived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B0D9F0-C4B1-3B01-F7A2-F0EB6037A9BD}"/>
              </a:ext>
            </a:extLst>
          </p:cNvPr>
          <p:cNvSpPr txBox="1"/>
          <p:nvPr/>
        </p:nvSpPr>
        <p:spPr>
          <a:xfrm>
            <a:off x="10052688" y="5573343"/>
            <a:ext cx="85884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Died</a:t>
            </a:r>
          </a:p>
        </p:txBody>
      </p:sp>
    </p:spTree>
    <p:extLst>
      <p:ext uri="{BB962C8B-B14F-4D97-AF65-F5344CB8AC3E}">
        <p14:creationId xmlns:p14="http://schemas.microsoft.com/office/powerpoint/2010/main" val="1539527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0" y="1097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(Django + ML inference + SHAP)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15258" cy="4681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515258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30580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30580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UI</a:t>
            </a:r>
            <a:endParaRPr lang="en-US" dirty="0"/>
          </a:p>
          <a:p>
            <a:pPr marL="228600" indent="-228600">
              <a:buSzPct val="10000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form / JSON upload</a:t>
            </a:r>
            <a:endParaRPr lang="en-US" dirty="0"/>
          </a:p>
          <a:p>
            <a:pPr marL="228600" indent="-228600">
              <a:buSzPct val="10000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Risk-tier display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68680" y="3337560"/>
            <a:ext cx="2875178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33272" y="3520440"/>
            <a:ext cx="25459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UI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68680" y="4178808"/>
            <a:ext cx="2875178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33272" y="4361688"/>
            <a:ext cx="25459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Single-patient view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338218" y="1463040"/>
            <a:ext cx="3515258" cy="4681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38218" y="1463040"/>
            <a:ext cx="3515258" cy="10972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66818" y="1691640"/>
            <a:ext cx="30580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(Django)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58258" y="2148840"/>
            <a:ext cx="287517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+ validation</a:t>
            </a:r>
            <a:endParaRPr lang="en-US" dirty="0"/>
          </a:p>
          <a:p>
            <a:pPr marL="228600" indent="-228600">
              <a:buSzPct val="10000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dirty="0"/>
          </a:p>
          <a:p>
            <a:pPr marL="228600" indent="-228600">
              <a:buSzPct val="10000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storage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58258" y="3337560"/>
            <a:ext cx="2875178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22850" y="3520440"/>
            <a:ext cx="25459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parser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58258" y="4178808"/>
            <a:ext cx="2875178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22850" y="4361688"/>
            <a:ext cx="25459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check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8127797" y="1463039"/>
            <a:ext cx="3515258" cy="468172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127797" y="1463040"/>
            <a:ext cx="3515258" cy="109728"/>
          </a:xfrm>
          <a:prstGeom prst="rect">
            <a:avLst/>
          </a:prstGeom>
          <a:solidFill>
            <a:srgbClr val="1B8F5A"/>
          </a:solidFill>
          <a:ln w="12700">
            <a:solidFill>
              <a:srgbClr val="1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56397" y="1691640"/>
            <a:ext cx="305805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services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47837" y="2148840"/>
            <a:ext cx="287517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model</a:t>
            </a:r>
            <a:endParaRPr lang="en-US" dirty="0"/>
          </a:p>
          <a:p>
            <a:pPr marL="228600" indent="-228600">
              <a:buSzPct val="10000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</a:t>
            </a:r>
            <a:endParaRPr lang="en-US" dirty="0"/>
          </a:p>
          <a:p>
            <a:pPr marL="228600" indent="-228600">
              <a:buSzPct val="100000"/>
              <a:buChar char="•"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metadata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8447837" y="3337560"/>
            <a:ext cx="2875178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12429" y="3520440"/>
            <a:ext cx="25459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Model.pkl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8447837" y="4178808"/>
            <a:ext cx="2875178" cy="6858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12429" y="4361688"/>
            <a:ext cx="25459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explainer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018178" y="3749040"/>
            <a:ext cx="320040" cy="274320"/>
          </a:xfrm>
          <a:prstGeom prst="rightArrow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807757" y="3749040"/>
            <a:ext cx="320040" cy="274320"/>
          </a:xfrm>
          <a:prstGeom prst="rightArrow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6601968"/>
            <a:ext cx="10362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Quantum-Six • ICU Mortality Prediction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87928" y="6601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0" y="1097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web app workflow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hospital data (raw measurements)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75120" y="1325880"/>
            <a:ext cx="4967935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03720" y="1508760"/>
            <a:ext cx="4510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workflow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903720" y="1920240"/>
            <a:ext cx="4510735" cy="53035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59168" y="2002536"/>
            <a:ext cx="419983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JSON ingestion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59168" y="2194560"/>
            <a:ext cx="41998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 → pandas DataFrame (time-stamped measures).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2542032"/>
            <a:ext cx="4510735" cy="53035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59168" y="2624328"/>
            <a:ext cx="419983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Eligibility check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59168" y="2816352"/>
            <a:ext cx="41998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≥ 48 hours of data; otherwise show “available in …”.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3163824"/>
            <a:ext cx="4510735" cy="53035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59168" y="3246120"/>
            <a:ext cx="419983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Feature extraction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59168" y="3438144"/>
            <a:ext cx="41998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aggregates (mean/max/min) using training logic.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3785616"/>
            <a:ext cx="4510735" cy="53035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59168" y="3867912"/>
            <a:ext cx="419983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Model inference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59168" y="4059936"/>
            <a:ext cx="41998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pretrained model → mortality probability + risk tier.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4407408"/>
            <a:ext cx="4510735" cy="53035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59168" y="4489704"/>
            <a:ext cx="419983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Explanation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59168" y="4681728"/>
            <a:ext cx="41998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highlights feature contributions for the prediction.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5029200"/>
            <a:ext cx="4510735" cy="530352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59168" y="5111496"/>
            <a:ext cx="419983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Prioritization view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59168" y="5303520"/>
            <a:ext cx="419983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predictions; show a risk-sorted patient list.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6601968"/>
            <a:ext cx="10362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Quantum-Six • ICU Mortality Prediction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7295" y="6601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33" name="Google Shape;412;p35">
            <a:extLst>
              <a:ext uri="{FF2B5EF4-FFF2-40B4-BE49-F238E27FC236}">
                <a16:creationId xmlns:a16="http://schemas.microsoft.com/office/drawing/2014/main" id="{7696C594-7603-A90B-815C-76F5198EA446}"/>
              </a:ext>
            </a:extLst>
          </p:cNvPr>
          <p:cNvSpPr/>
          <p:nvPr/>
        </p:nvSpPr>
        <p:spPr>
          <a:xfrm>
            <a:off x="548639" y="1426464"/>
            <a:ext cx="5053507" cy="4835440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 cap="flat" cmpd="sng">
            <a:solidFill>
              <a:srgbClr val="102A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DE68FC6-C87B-7E94-5FC2-7C5E6F112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09476"/>
            <a:ext cx="4390295" cy="4051022"/>
          </a:xfrm>
          <a:prstGeom prst="rect">
            <a:avLst/>
          </a:prstGeom>
        </p:spPr>
      </p:pic>
      <p:sp>
        <p:nvSpPr>
          <p:cNvPr id="6" name="Text 32">
            <a:extLst>
              <a:ext uri="{FF2B5EF4-FFF2-40B4-BE49-F238E27FC236}">
                <a16:creationId xmlns:a16="http://schemas.microsoft.com/office/drawing/2014/main" id="{1229FFE3-46AA-6A79-3EC3-93EAFCCC3FC5}"/>
              </a:ext>
            </a:extLst>
          </p:cNvPr>
          <p:cNvSpPr/>
          <p:nvPr/>
        </p:nvSpPr>
        <p:spPr>
          <a:xfrm>
            <a:off x="11429695" y="6547399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0" y="1097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interface: prediction + explanation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94415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97280" y="19842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(sidebar)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0" y="50932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plot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(feature contributions)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6601968"/>
            <a:ext cx="10362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Quantum-Six • ICU Mortality Prediction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277295" y="6601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A5AEAB9-BD07-F9F8-2A84-5341ADC16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35" y="1426463"/>
            <a:ext cx="10819666" cy="4608577"/>
          </a:xfrm>
          <a:prstGeom prst="rect">
            <a:avLst/>
          </a:prstGeom>
        </p:spPr>
      </p:pic>
      <p:sp>
        <p:nvSpPr>
          <p:cNvPr id="7" name="Text 32">
            <a:extLst>
              <a:ext uri="{FF2B5EF4-FFF2-40B4-BE49-F238E27FC236}">
                <a16:creationId xmlns:a16="http://schemas.microsoft.com/office/drawing/2014/main" id="{146C5D48-D8C8-EE0A-3A98-FA8E57D8D266}"/>
              </a:ext>
            </a:extLst>
          </p:cNvPr>
          <p:cNvSpPr/>
          <p:nvPr/>
        </p:nvSpPr>
        <p:spPr>
          <a:xfrm>
            <a:off x="11468101" y="6547399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BEAF4-BED7-C97C-5CC9-78D0CFEFB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FAAA399-CF7F-F4BB-08D8-4C30FA20B309}"/>
              </a:ext>
            </a:extLst>
          </p:cNvPr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30AB99-4C76-08B1-CF37-8B0AA02C4366}"/>
              </a:ext>
            </a:extLst>
          </p:cNvPr>
          <p:cNvSpPr/>
          <p:nvPr/>
        </p:nvSpPr>
        <p:spPr>
          <a:xfrm>
            <a:off x="54864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C30182C-D2B3-CFCD-AE38-204FB46055D0}"/>
              </a:ext>
            </a:extLst>
          </p:cNvPr>
          <p:cNvSpPr/>
          <p:nvPr/>
        </p:nvSpPr>
        <p:spPr>
          <a:xfrm>
            <a:off x="4389120" y="1097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A6EC8AB-B0D4-B12A-02CE-A30A269CB765}"/>
              </a:ext>
            </a:extLst>
          </p:cNvPr>
          <p:cNvSpPr/>
          <p:nvPr/>
        </p:nvSpPr>
        <p:spPr>
          <a:xfrm>
            <a:off x="548640" y="713232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/>
              <a:t>Risk assessment 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CF65983-8DE6-CEC8-BF73-A203A286DC2C}"/>
              </a:ext>
            </a:extLst>
          </p:cNvPr>
          <p:cNvSpPr/>
          <p:nvPr/>
        </p:nvSpPr>
        <p:spPr>
          <a:xfrm>
            <a:off x="548640" y="1325880"/>
            <a:ext cx="11094415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F8132A7-CC76-4AB9-B21E-EBBCA0F0FB1A}"/>
              </a:ext>
            </a:extLst>
          </p:cNvPr>
          <p:cNvSpPr/>
          <p:nvPr/>
        </p:nvSpPr>
        <p:spPr>
          <a:xfrm>
            <a:off x="1097280" y="198424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(sidebar)</a:t>
            </a:r>
            <a:endParaRPr lang="en-US" sz="1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4AA3D1B-5F15-C6D0-AE11-DC15BE07FDC9}"/>
              </a:ext>
            </a:extLst>
          </p:cNvPr>
          <p:cNvSpPr/>
          <p:nvPr/>
        </p:nvSpPr>
        <p:spPr>
          <a:xfrm>
            <a:off x="7772400" y="50932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plot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(feature contributions)</a:t>
            </a:r>
            <a:endParaRPr lang="en-US" sz="12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E80438F-FD8D-9709-3C08-A9DB1EE36E4B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3C6D364-5F75-A8BB-F054-CE96321C7705}"/>
              </a:ext>
            </a:extLst>
          </p:cNvPr>
          <p:cNvSpPr/>
          <p:nvPr/>
        </p:nvSpPr>
        <p:spPr>
          <a:xfrm>
            <a:off x="548640" y="6601968"/>
            <a:ext cx="10362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Quantum-Six • ICU Mortality Prediction</a:t>
            </a:r>
            <a:endParaRPr lang="en-US" sz="10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044BC61-4C92-E77D-AAB8-900CA97ED309}"/>
              </a:ext>
            </a:extLst>
          </p:cNvPr>
          <p:cNvSpPr/>
          <p:nvPr/>
        </p:nvSpPr>
        <p:spPr>
          <a:xfrm>
            <a:off x="11277295" y="6601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2D642A-4159-3A05-998A-C3F417F4A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17" y="1476274"/>
            <a:ext cx="10998765" cy="39054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E7B436-146D-273E-C370-F178EC56A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1381" y="1452507"/>
            <a:ext cx="5016758" cy="4572235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Text 32">
            <a:extLst>
              <a:ext uri="{FF2B5EF4-FFF2-40B4-BE49-F238E27FC236}">
                <a16:creationId xmlns:a16="http://schemas.microsoft.com/office/drawing/2014/main" id="{4643D81B-1B72-5243-07B3-D385E17CE238}"/>
              </a:ext>
            </a:extLst>
          </p:cNvPr>
          <p:cNvSpPr/>
          <p:nvPr/>
        </p:nvSpPr>
        <p:spPr>
          <a:xfrm>
            <a:off x="11430878" y="65379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47971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</a:rPr>
              <a:t>           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0" y="1097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 in clinical workflow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64328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73152" cy="228600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618488"/>
            <a:ext cx="4907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risk stratification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2039112"/>
            <a:ext cx="49071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high-risk patients earlier and prioritize closer monitoring and rapid response.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278728" y="1417320"/>
            <a:ext cx="5364328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78728" y="1417320"/>
            <a:ext cx="73152" cy="2286000"/>
          </a:xfrm>
          <a:prstGeom prst="rect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79896" y="1618488"/>
            <a:ext cx="4907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triage &amp; resources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79896" y="2039112"/>
            <a:ext cx="49071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staffing decisions, ICU resource allocation, and escalation planning.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64328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73152" cy="2286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" y="4315968"/>
            <a:ext cx="4907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for adoption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08" y="4736592"/>
            <a:ext cx="49071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 drivers help clinicians verify if the model is “looking at the right signals”.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278728" y="4114800"/>
            <a:ext cx="5364328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78728" y="4114800"/>
            <a:ext cx="73152" cy="2286000"/>
          </a:xfrm>
          <a:prstGeom prst="rect">
            <a:avLst/>
          </a:prstGeom>
          <a:solidFill>
            <a:srgbClr val="1B8F5A"/>
          </a:solidFill>
          <a:ln w="12700">
            <a:solidFill>
              <a:srgbClr val="1B8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79896" y="4315968"/>
            <a:ext cx="49071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prototype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79896" y="4736592"/>
            <a:ext cx="49071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>
              <a:solidFill>
                <a:srgbClr val="3A465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6601968"/>
            <a:ext cx="10362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Quantum-Six • ICU Mortality Prediction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7295" y="6601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C1CE1EF5-6A35-0DDD-3B65-93F0AFE5F446}"/>
              </a:ext>
            </a:extLst>
          </p:cNvPr>
          <p:cNvSpPr/>
          <p:nvPr/>
        </p:nvSpPr>
        <p:spPr>
          <a:xfrm>
            <a:off x="6479896" y="4736592"/>
            <a:ext cx="49071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Based Application</a:t>
            </a:r>
            <a:endParaRPr lang="en-US" dirty="0"/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2EE08BB2-52AD-BDA9-3800-39F06C25F34E}"/>
              </a:ext>
            </a:extLst>
          </p:cNvPr>
          <p:cNvSpPr/>
          <p:nvPr/>
        </p:nvSpPr>
        <p:spPr>
          <a:xfrm>
            <a:off x="621792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0" y="1097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1860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73152" cy="44805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581912"/>
            <a:ext cx="504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u="sng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limitations</a:t>
            </a:r>
            <a:endParaRPr lang="en-US" sz="1800" u="sng" dirty="0"/>
          </a:p>
        </p:txBody>
      </p:sp>
      <p:sp>
        <p:nvSpPr>
          <p:cNvPr id="9" name="Text 7"/>
          <p:cNvSpPr/>
          <p:nvPr/>
        </p:nvSpPr>
        <p:spPr>
          <a:xfrm>
            <a:off x="713232" y="1947672"/>
            <a:ext cx="5044288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Single hospital data</a:t>
            </a:r>
          </a:p>
          <a:p>
            <a:pPr marL="285750" indent="-28575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Changes across hospitals and over time</a:t>
            </a:r>
          </a:p>
          <a:p>
            <a:pPr marL="285750" indent="-28575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Only first 48 hours data used</a:t>
            </a:r>
          </a:p>
          <a:p>
            <a:pPr marL="285750" indent="-28575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Class Imbalance</a:t>
            </a:r>
          </a:p>
        </p:txBody>
      </p:sp>
      <p:sp>
        <p:nvSpPr>
          <p:cNvPr id="10" name="Shape 8"/>
          <p:cNvSpPr/>
          <p:nvPr/>
        </p:nvSpPr>
        <p:spPr>
          <a:xfrm>
            <a:off x="6324448" y="1417320"/>
            <a:ext cx="531860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51296" y="1417320"/>
            <a:ext cx="73152" cy="448056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89040" y="1581912"/>
            <a:ext cx="504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u="sng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considerations</a:t>
            </a:r>
            <a:endParaRPr lang="en-US" sz="1800" u="sng" dirty="0"/>
          </a:p>
        </p:txBody>
      </p:sp>
      <p:sp>
        <p:nvSpPr>
          <p:cNvPr id="13" name="Text 11"/>
          <p:cNvSpPr/>
          <p:nvPr/>
        </p:nvSpPr>
        <p:spPr>
          <a:xfrm>
            <a:off x="6489040" y="1947672"/>
            <a:ext cx="5044288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200000"/>
              </a:lnSpc>
              <a:buSzPct val="100000"/>
              <a:buChar char="•"/>
            </a:pPr>
            <a:r>
              <a:rPr lang="en-US" dirty="0"/>
              <a:t>Support tool, not a decision maker</a:t>
            </a:r>
          </a:p>
          <a:p>
            <a:pPr marL="228600" indent="-228600">
              <a:lnSpc>
                <a:spcPct val="200000"/>
              </a:lnSpc>
              <a:buSzPct val="100000"/>
              <a:buChar char="•"/>
            </a:pPr>
            <a:r>
              <a:rPr lang="en-US" dirty="0"/>
              <a:t>Needs real-world testing</a:t>
            </a:r>
          </a:p>
          <a:p>
            <a:pPr marL="228600" indent="-228600">
              <a:lnSpc>
                <a:spcPct val="200000"/>
              </a:lnSpc>
              <a:buSzPct val="100000"/>
              <a:buChar char="•"/>
            </a:pPr>
            <a:r>
              <a:rPr lang="en-US" dirty="0"/>
              <a:t>Doctors must observe result to take final decision</a:t>
            </a:r>
          </a:p>
          <a:p>
            <a:pPr marL="228600" indent="-228600">
              <a:lnSpc>
                <a:spcPct val="200000"/>
              </a:lnSpc>
              <a:buSzPct val="100000"/>
              <a:buChar char="•"/>
            </a:pPr>
            <a:r>
              <a:rPr lang="en-US" dirty="0"/>
              <a:t>Predictions can influence treatment</a:t>
            </a:r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6601968"/>
            <a:ext cx="10362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Quantum-Six • ICU Mortality Prediction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7295" y="6601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389120" y="1097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21207" y="2125980"/>
            <a:ext cx="11094415" cy="38913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7286" y="2051646"/>
            <a:ext cx="4730288" cy="45719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7286" y="1846841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&amp; external validation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2952" y="2327147"/>
            <a:ext cx="10637215" cy="34518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/>
              <a:t>External validation: Test the model on data from other hospitals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/>
              <a:t>Dynamic risk prediction: Update predictions over time instead of using only the first 48h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Prospective evaluation: Test the model in a real clinical workflow.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 interpretability: Clearer explanations for clinicians.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/>
              <a:t>Model refinement: Feature selection, calibration, and robustness improvements.</a:t>
            </a:r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6601968"/>
            <a:ext cx="10362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Quantum-Six • ICU Mortality Prediction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7295" y="6601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943600"/>
            <a:ext cx="2011680" cy="7315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- - - - - - - - - - - - - - - - - - - - - 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62179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38BD4-3538-3917-938E-54DA78DD6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65CF462-1C6E-8985-B1DB-BA33ADEC0382}"/>
              </a:ext>
            </a:extLst>
          </p:cNvPr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28A0D6-7029-F49C-8890-CF7BB2869D23}"/>
              </a:ext>
            </a:extLst>
          </p:cNvPr>
          <p:cNvSpPr/>
          <p:nvPr/>
        </p:nvSpPr>
        <p:spPr>
          <a:xfrm>
            <a:off x="548640" y="109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CF1F5D8-4CBD-5858-9724-C3812671E3CD}"/>
              </a:ext>
            </a:extLst>
          </p:cNvPr>
          <p:cNvSpPr/>
          <p:nvPr/>
        </p:nvSpPr>
        <p:spPr>
          <a:xfrm>
            <a:off x="4389120" y="1097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5CFDAE3-D7DC-6DE0-FF2F-04A5BD8700FB}"/>
              </a:ext>
            </a:extLst>
          </p:cNvPr>
          <p:cNvSpPr/>
          <p:nvPr/>
        </p:nvSpPr>
        <p:spPr>
          <a:xfrm>
            <a:off x="548640" y="71323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</a:t>
            </a:r>
            <a:endParaRPr lang="en-US" sz="3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2A966AF-0BE9-E20B-FC64-9C9D39D4D525}"/>
              </a:ext>
            </a:extLst>
          </p:cNvPr>
          <p:cNvSpPr/>
          <p:nvPr/>
        </p:nvSpPr>
        <p:spPr>
          <a:xfrm>
            <a:off x="612952" y="1280160"/>
            <a:ext cx="11030103" cy="53218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Tx/>
              <a:buChar char="-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https://ohiostate.elsevierpure.com/en/publications/a-new-simplified-acute-physiology-score-saps-ii-based-on-a-europe/ (SAPS II reference)
https://jamanetwork.com/journals/JAMA/articlepdf/409377/jama_270_20_037.pdf (MPM II reference)
https://link.springer.com/article/10.1007/BF01720917 (discussion of limitations for individual prediction)
Melaku,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Ermiyas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Endewunet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et al. “Determinants of Mortality of Patients Admitted to the Intensive Care Unit at Debre Berhan Comprehensive Specialized Hospital: A Retrospective Cohort Study.” </a:t>
            </a:r>
            <a:r>
              <a:rPr lang="en-US" sz="1300" i="1" dirty="0">
                <a:latin typeface="Arial" panose="020B0604020202020204" pitchFamily="34" charset="0"/>
                <a:cs typeface="Arial" panose="020B0604020202020204" pitchFamily="34" charset="0"/>
              </a:rPr>
              <a:t>Patient related outcome measures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 vol. 15 61-70. 22 Feb. 2024, doi:10.2147/PROM.S450502
https://jamanetwork.com/journals/JAMA/articlepdf/409377/jama_270_20_037.pdf (MPM II reference)</a:t>
            </a:r>
          </a:p>
          <a:p>
            <a:pPr marL="285750" indent="-285750">
              <a:buFontTx/>
              <a:buChar char="-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https://link.springer.com/article/10.1007/BF01720917 (discussion of limitations for individual prediction)
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  <a:hlinkClick r:id="rId3" tooltip="Persistent link using digital object identifi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https://doi.org/10.1016/j.ijnurstu.2017.09.003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3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SCCM, https://sccm.org/communications/critical-care-statistics; Strategies of Predictive Schemes and Clinical Diagnosis for Prognosis Using MIMIC-III: A Systematic Review -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DOI: 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10.3390/healthcare11050710</a:t>
            </a:r>
            <a:endParaRPr lang="en-US" sz="1300" dirty="0"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Costs of Critical Care Medicine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10.1016/j.ccc.2011.10.003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Dasta, Joseph F et al. “Daily cost of an intensive care unit day: the contribution of mechanical ventilation.” </a:t>
            </a:r>
            <a:r>
              <a:rPr lang="en-US" sz="1300" i="1" dirty="0">
                <a:latin typeface="Arial" panose="020B0604020202020204" pitchFamily="34" charset="0"/>
                <a:cs typeface="Arial" panose="020B0604020202020204" pitchFamily="34" charset="0"/>
              </a:rPr>
              <a:t>Critical care medicine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 vol. 33,6 (2005): 1266-71. doi:10.1097/01.ccm.0000164543.14619.00</a:t>
            </a:r>
          </a:p>
          <a:p>
            <a:pPr marL="285750" indent="-285750">
              <a:buFontTx/>
              <a:buChar char="-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https://physionet.org/content/mimiciii/1.4/ (MIMIC-III access + description)</a:t>
            </a:r>
          </a:p>
          <a:p>
            <a:pPr marL="285750" indent="-285750">
              <a:buFontTx/>
              <a:buChar char="-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https://europepmc.org/articles/PMC4878278 (MIMIC-III paper)</a:t>
            </a:r>
          </a:p>
          <a:p>
            <a:pPr marL="285750" indent="-285750">
              <a:buFontTx/>
              <a:buChar char="-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https://arxiv.org/abs/1603.02754 (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https://arxiv.org/abs/1705.07874 (SHAP)</a:t>
            </a:r>
          </a:p>
          <a:p>
            <a:pPr marL="285750" indent="-285750">
              <a:buFontTx/>
              <a:buChar char="-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Hur,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Sujeong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et al. “Comparison of SHAP and clinician friendly explanations reveals effects on clinical decision </a:t>
            </a:r>
            <a:r>
              <a:rPr 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behaviour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.” </a:t>
            </a:r>
            <a:r>
              <a:rPr lang="en-US" sz="1300" i="1" dirty="0">
                <a:latin typeface="Arial" panose="020B0604020202020204" pitchFamily="34" charset="0"/>
                <a:cs typeface="Arial" panose="020B0604020202020204" pitchFamily="34" charset="0"/>
              </a:rPr>
              <a:t>NPJ digital medicine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 vol. 8,1 578. 26 Sep. 2025, doi:10.1038/s41746-025-01958-8</a:t>
            </a:r>
          </a:p>
          <a:p>
            <a:pPr marL="285750" indent="-285750">
              <a:buFontTx/>
              <a:buChar char="-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https://doi.org/10.2196/44065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Balch, J.A., Brandberg, J.G., Andris, R.T. </a:t>
            </a:r>
            <a:r>
              <a:rPr lang="en-US" sz="1300" i="1" dirty="0">
                <a:latin typeface="Arial" panose="020B0604020202020204" pitchFamily="34" charset="0"/>
                <a:cs typeface="Arial" panose="020B0604020202020204" pitchFamily="34" charset="0"/>
              </a:rPr>
              <a:t>et al.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 Equipping mathematical models for hospital dynamics using information theory. </a:t>
            </a:r>
            <a:r>
              <a:rPr lang="en-US" sz="1300" i="1" dirty="0" err="1">
                <a:latin typeface="Arial" panose="020B0604020202020204" pitchFamily="34" charset="0"/>
                <a:cs typeface="Arial" panose="020B0604020202020204" pitchFamily="34" charset="0"/>
              </a:rPr>
              <a:t>npj</a:t>
            </a:r>
            <a:r>
              <a:rPr lang="en-US" sz="1300" i="1" dirty="0">
                <a:latin typeface="Arial" panose="020B0604020202020204" pitchFamily="34" charset="0"/>
                <a:cs typeface="Arial" panose="020B0604020202020204" pitchFamily="34" charset="0"/>
              </a:rPr>
              <a:t> Digit. Med.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, 652 (2025).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https://doi.org/10.1038/s41746-025-02013-2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https://physionet.org/content/mimiciii/1.4/ (MIMIC-III access + context for dataset limitations)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4091D83-D859-C087-279B-21C1786BD94B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65BC7E5-ED51-23C9-84E5-927FB47323B0}"/>
              </a:ext>
            </a:extLst>
          </p:cNvPr>
          <p:cNvSpPr/>
          <p:nvPr/>
        </p:nvSpPr>
        <p:spPr>
          <a:xfrm>
            <a:off x="548640" y="6601968"/>
            <a:ext cx="103628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Quantum-Six • ICU Mortality Prediction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FDA21BF-8F83-D3DC-091E-66C66A1D15DB}"/>
              </a:ext>
            </a:extLst>
          </p:cNvPr>
          <p:cNvSpPr/>
          <p:nvPr/>
        </p:nvSpPr>
        <p:spPr>
          <a:xfrm>
            <a:off x="11277295" y="66019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09784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2542</Words>
  <Application>Microsoft Office PowerPoint</Application>
  <PresentationFormat>Breitbild</PresentationFormat>
  <Paragraphs>384</Paragraphs>
  <Slides>24</Slides>
  <Notes>24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Mehedi Hasan</dc:creator>
  <cp:keywords>DS Project PPT</cp:keywords>
  <cp:lastModifiedBy>Maximilian Scheiwein</cp:lastModifiedBy>
  <cp:revision>44</cp:revision>
  <dcterms:created xsi:type="dcterms:W3CDTF">2026-01-15T11:30:54Z</dcterms:created>
  <dcterms:modified xsi:type="dcterms:W3CDTF">2026-02-18T09:00:44Z</dcterms:modified>
</cp:coreProperties>
</file>